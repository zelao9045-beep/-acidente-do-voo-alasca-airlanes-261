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Arial" charset="1" panose="020B0604020202020204"/>
      <p:regular r:id="rId18"/>
    </p:embeddedFont>
    <p:embeddedFont>
      <p:font typeface="Arial Bold" charset="1" panose="020B0704020202020204"/>
      <p:regular r:id="rId19"/>
    </p:embeddedFont>
    <p:embeddedFont>
      <p:font typeface="Aptos" charset="1" panose="020B0004020202020204"/>
      <p:regular r:id="rId20"/>
    </p:embeddedFont>
    <p:embeddedFont>
      <p:font typeface="Aptos Bold" charset="1" panose="020B0004020202020204"/>
      <p:regular r:id="rId21"/>
    </p:embeddedFont>
    <p:embeddedFont>
      <p:font typeface="Aptos Bold Italics" charset="1" panose="020B0004020202090204"/>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056408" y="301831"/>
            <a:ext cx="10175184" cy="1785385"/>
          </a:xfrm>
          <a:prstGeom prst="rect">
            <a:avLst/>
          </a:prstGeom>
        </p:spPr>
        <p:txBody>
          <a:bodyPr anchor="t" rtlCol="false" tIns="0" lIns="0" bIns="0" rIns="0">
            <a:spAutoFit/>
          </a:bodyPr>
          <a:lstStyle/>
          <a:p>
            <a:pPr algn="ctr">
              <a:lnSpc>
                <a:spcPts val="7117"/>
              </a:lnSpc>
              <a:spcBef>
                <a:spcPct val="0"/>
              </a:spcBef>
            </a:pPr>
            <a:r>
              <a:rPr lang="en-US" sz="5084">
                <a:solidFill>
                  <a:srgbClr val="004AAD"/>
                </a:solidFill>
                <a:latin typeface="Arial"/>
                <a:ea typeface="Arial"/>
                <a:cs typeface="Arial"/>
                <a:sym typeface="Arial"/>
              </a:rPr>
              <a:t>Análise do </a:t>
            </a:r>
            <a:r>
              <a:rPr lang="en-US" sz="5084">
                <a:solidFill>
                  <a:srgbClr val="004AAD"/>
                </a:solidFill>
                <a:latin typeface="Arial"/>
                <a:ea typeface="Arial"/>
                <a:cs typeface="Arial"/>
                <a:sym typeface="Arial"/>
              </a:rPr>
              <a:t>Vo</a:t>
            </a:r>
            <a:r>
              <a:rPr lang="en-US" sz="5084">
                <a:solidFill>
                  <a:srgbClr val="004AAD"/>
                </a:solidFill>
                <a:latin typeface="Arial"/>
                <a:ea typeface="Arial"/>
                <a:cs typeface="Arial"/>
                <a:sym typeface="Arial"/>
              </a:rPr>
              <a:t>o Alaska Airlines 261</a:t>
            </a:r>
          </a:p>
          <a:p>
            <a:pPr algn="ctr">
              <a:lnSpc>
                <a:spcPts val="7117"/>
              </a:lnSpc>
              <a:spcBef>
                <a:spcPct val="0"/>
              </a:spcBef>
            </a:pPr>
          </a:p>
        </p:txBody>
      </p:sp>
      <p:sp>
        <p:nvSpPr>
          <p:cNvPr name="Freeform 3" id="3"/>
          <p:cNvSpPr/>
          <p:nvPr/>
        </p:nvSpPr>
        <p:spPr>
          <a:xfrm flipH="false" flipV="false" rot="0">
            <a:off x="818447" y="1864277"/>
            <a:ext cx="8127108" cy="5270989"/>
          </a:xfrm>
          <a:custGeom>
            <a:avLst/>
            <a:gdLst/>
            <a:ahLst/>
            <a:cxnLst/>
            <a:rect r="r" b="b" t="t" l="l"/>
            <a:pathLst>
              <a:path h="5270989" w="8127108">
                <a:moveTo>
                  <a:pt x="0" y="0"/>
                </a:moveTo>
                <a:lnTo>
                  <a:pt x="8127108" y="0"/>
                </a:lnTo>
                <a:lnTo>
                  <a:pt x="8127108" y="5270989"/>
                </a:lnTo>
                <a:lnTo>
                  <a:pt x="0" y="5270989"/>
                </a:lnTo>
                <a:lnTo>
                  <a:pt x="0" y="0"/>
                </a:lnTo>
                <a:close/>
              </a:path>
            </a:pathLst>
          </a:custGeom>
          <a:blipFill>
            <a:blip r:embed="rId2"/>
            <a:stretch>
              <a:fillRect l="0" t="0" r="-3095" b="-4673"/>
            </a:stretch>
          </a:blipFill>
        </p:spPr>
      </p:sp>
      <p:sp>
        <p:nvSpPr>
          <p:cNvPr name="TextBox 4" id="4"/>
          <p:cNvSpPr txBox="true"/>
          <p:nvPr/>
        </p:nvSpPr>
        <p:spPr>
          <a:xfrm rot="0">
            <a:off x="10197433" y="3553621"/>
            <a:ext cx="7061867" cy="1768475"/>
          </a:xfrm>
          <a:prstGeom prst="rect">
            <a:avLst/>
          </a:prstGeom>
        </p:spPr>
        <p:txBody>
          <a:bodyPr anchor="t" rtlCol="false" tIns="0" lIns="0" bIns="0" rIns="0">
            <a:spAutoFit/>
          </a:bodyPr>
          <a:lstStyle/>
          <a:p>
            <a:pPr algn="l">
              <a:lnSpc>
                <a:spcPts val="7000"/>
              </a:lnSpc>
              <a:spcBef>
                <a:spcPct val="0"/>
              </a:spcBef>
            </a:pPr>
            <a:r>
              <a:rPr lang="en-US" sz="5000">
                <a:solidFill>
                  <a:srgbClr val="004AAD"/>
                </a:solidFill>
                <a:latin typeface="Arial"/>
                <a:ea typeface="Arial"/>
                <a:cs typeface="Arial"/>
                <a:sym typeface="Arial"/>
              </a:rPr>
              <a:t>API 5ºSEMESTRE - Prof. Rodrigo Elias</a:t>
            </a:r>
          </a:p>
        </p:txBody>
      </p:sp>
      <p:sp>
        <p:nvSpPr>
          <p:cNvPr name="TextBox 5" id="5"/>
          <p:cNvSpPr txBox="true"/>
          <p:nvPr/>
        </p:nvSpPr>
        <p:spPr>
          <a:xfrm rot="0">
            <a:off x="1028700" y="7366480"/>
            <a:ext cx="5061942" cy="2053990"/>
          </a:xfrm>
          <a:prstGeom prst="rect">
            <a:avLst/>
          </a:prstGeom>
        </p:spPr>
        <p:txBody>
          <a:bodyPr anchor="t" rtlCol="false" tIns="0" lIns="0" bIns="0" rIns="0">
            <a:spAutoFit/>
          </a:bodyPr>
          <a:lstStyle/>
          <a:p>
            <a:pPr algn="ctr">
              <a:lnSpc>
                <a:spcPts val="5437"/>
              </a:lnSpc>
            </a:pPr>
            <a:r>
              <a:rPr lang="en-US" sz="3884">
                <a:solidFill>
                  <a:srgbClr val="004AAD"/>
                </a:solidFill>
                <a:latin typeface="Arial"/>
                <a:ea typeface="Arial"/>
                <a:cs typeface="Arial"/>
                <a:sym typeface="Arial"/>
              </a:rPr>
              <a:t>BRENO NEVES</a:t>
            </a:r>
          </a:p>
          <a:p>
            <a:pPr algn="ctr">
              <a:lnSpc>
                <a:spcPts val="5437"/>
              </a:lnSpc>
            </a:pPr>
            <a:r>
              <a:rPr lang="en-US" sz="3884">
                <a:solidFill>
                  <a:srgbClr val="004AAD"/>
                </a:solidFill>
                <a:latin typeface="Arial"/>
                <a:ea typeface="Arial"/>
                <a:cs typeface="Arial"/>
                <a:sym typeface="Arial"/>
              </a:rPr>
              <a:t>CRISTIANO TEIXEIRA</a:t>
            </a:r>
          </a:p>
          <a:p>
            <a:pPr algn="ctr">
              <a:lnSpc>
                <a:spcPts val="5437"/>
              </a:lnSpc>
              <a:spcBef>
                <a:spcPct val="0"/>
              </a:spcBef>
            </a:pPr>
            <a:r>
              <a:rPr lang="en-US" sz="3884">
                <a:solidFill>
                  <a:srgbClr val="004AAD"/>
                </a:solidFill>
                <a:latin typeface="Arial"/>
                <a:ea typeface="Arial"/>
                <a:cs typeface="Arial"/>
                <a:sym typeface="Arial"/>
              </a:rPr>
              <a:t>JOSÉ AUGUSTO</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662695" y="47649"/>
            <a:ext cx="6024860" cy="1222375"/>
          </a:xfrm>
          <a:prstGeom prst="rect">
            <a:avLst/>
          </a:prstGeom>
        </p:spPr>
        <p:txBody>
          <a:bodyPr anchor="t" rtlCol="false" tIns="0" lIns="0" bIns="0" rIns="0">
            <a:spAutoFit/>
          </a:bodyPr>
          <a:lstStyle/>
          <a:p>
            <a:pPr algn="ctr">
              <a:lnSpc>
                <a:spcPts val="9799"/>
              </a:lnSpc>
              <a:spcBef>
                <a:spcPct val="0"/>
              </a:spcBef>
            </a:pPr>
            <a:r>
              <a:rPr lang="en-US" b="true" sz="6999">
                <a:solidFill>
                  <a:srgbClr val="004AAD"/>
                </a:solidFill>
                <a:latin typeface="Arial Bold"/>
                <a:ea typeface="Arial Bold"/>
                <a:cs typeface="Arial Bold"/>
                <a:sym typeface="Arial Bold"/>
              </a:rPr>
              <a:t>INTRODUÇÃO</a:t>
            </a:r>
          </a:p>
        </p:txBody>
      </p:sp>
      <p:sp>
        <p:nvSpPr>
          <p:cNvPr name="TextBox 3" id="3"/>
          <p:cNvSpPr txBox="true"/>
          <p:nvPr/>
        </p:nvSpPr>
        <p:spPr>
          <a:xfrm rot="0">
            <a:off x="4046044" y="1649966"/>
            <a:ext cx="11003375" cy="7608334"/>
          </a:xfrm>
          <a:prstGeom prst="rect">
            <a:avLst/>
          </a:prstGeom>
        </p:spPr>
        <p:txBody>
          <a:bodyPr anchor="t" rtlCol="false" tIns="0" lIns="0" bIns="0" rIns="0">
            <a:spAutoFit/>
          </a:bodyPr>
          <a:lstStyle/>
          <a:p>
            <a:pPr algn="l">
              <a:lnSpc>
                <a:spcPts val="4317"/>
              </a:lnSpc>
              <a:spcBef>
                <a:spcPct val="0"/>
              </a:spcBef>
            </a:pPr>
          </a:p>
          <a:p>
            <a:pPr algn="l">
              <a:lnSpc>
                <a:spcPts val="4317"/>
              </a:lnSpc>
              <a:spcBef>
                <a:spcPct val="0"/>
              </a:spcBef>
            </a:pPr>
            <a:r>
              <a:rPr lang="en-US" sz="3084">
                <a:solidFill>
                  <a:srgbClr val="004AAD"/>
                </a:solidFill>
                <a:latin typeface="Arial"/>
                <a:ea typeface="Arial"/>
                <a:cs typeface="Arial"/>
                <a:sym typeface="Arial"/>
              </a:rPr>
              <a:t>     Abordaremos de forma aprofundada a análise do sistema de compensação do estabilizador horizontal do MD-83 sob a ótica dos métodos MSG-2 e MSG-3. Nesse contexto, são avaliadas a classificação do conjunto do eixo, a eficácia dos testes realizados, as análises MSI e SSI, a influência da instalação zonal e, principalmente, a definição e extensão dos intervalos de manutenção. </a:t>
            </a:r>
          </a:p>
          <a:p>
            <a:pPr algn="l">
              <a:lnSpc>
                <a:spcPts val="4317"/>
              </a:lnSpc>
              <a:spcBef>
                <a:spcPct val="0"/>
              </a:spcBef>
            </a:pPr>
            <a:r>
              <a:rPr lang="en-US" sz="3084">
                <a:solidFill>
                  <a:srgbClr val="004AAD"/>
                </a:solidFill>
                <a:latin typeface="Arial"/>
                <a:ea typeface="Arial"/>
                <a:cs typeface="Arial"/>
                <a:sym typeface="Arial"/>
              </a:rPr>
              <a:t>     O acidente do Alaska Airlines 261 demonstrou que falhas na aplicação desses conceitos, somadas a decisões administrativas e regulatórias complacentes, permitiram que um modo de falha previsível evoluísse até a perda total do controle da aeronave.</a:t>
            </a:r>
          </a:p>
          <a:p>
            <a:pPr algn="l">
              <a:lnSpc>
                <a:spcPts val="4317"/>
              </a:lnSpc>
              <a:spcBef>
                <a:spcPct val="0"/>
              </a:spcBef>
            </a:pP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06417" y="188020"/>
            <a:ext cx="2106584" cy="621841"/>
            <a:chOff x="0" y="0"/>
            <a:chExt cx="2808778" cy="829121"/>
          </a:xfrm>
        </p:grpSpPr>
        <p:sp>
          <p:nvSpPr>
            <p:cNvPr name="Freeform 3" id="3"/>
            <p:cNvSpPr/>
            <p:nvPr/>
          </p:nvSpPr>
          <p:spPr>
            <a:xfrm flipH="false" flipV="false" rot="0">
              <a:off x="0" y="0"/>
              <a:ext cx="2808778" cy="829121"/>
            </a:xfrm>
            <a:custGeom>
              <a:avLst/>
              <a:gdLst/>
              <a:ahLst/>
              <a:cxnLst/>
              <a:rect r="r" b="b" t="t" l="l"/>
              <a:pathLst>
                <a:path h="829121" w="2808778">
                  <a:moveTo>
                    <a:pt x="0" y="0"/>
                  </a:moveTo>
                  <a:lnTo>
                    <a:pt x="2808778" y="0"/>
                  </a:lnTo>
                  <a:lnTo>
                    <a:pt x="2808778" y="829121"/>
                  </a:lnTo>
                  <a:lnTo>
                    <a:pt x="0" y="829121"/>
                  </a:lnTo>
                  <a:close/>
                </a:path>
              </a:pathLst>
            </a:custGeom>
            <a:solidFill>
              <a:srgbClr val="000000">
                <a:alpha val="0"/>
              </a:srgbClr>
            </a:solidFill>
          </p:spPr>
        </p:sp>
        <p:sp>
          <p:nvSpPr>
            <p:cNvPr name="TextBox 4" id="4"/>
            <p:cNvSpPr txBox="true"/>
            <p:nvPr/>
          </p:nvSpPr>
          <p:spPr>
            <a:xfrm>
              <a:off x="0" y="-19050"/>
              <a:ext cx="2808778" cy="848171"/>
            </a:xfrm>
            <a:prstGeom prst="rect">
              <a:avLst/>
            </a:prstGeom>
          </p:spPr>
          <p:txBody>
            <a:bodyPr anchor="ctr" rtlCol="false" tIns="0" lIns="0" bIns="0" rIns="0"/>
            <a:lstStyle/>
            <a:p>
              <a:pPr algn="l">
                <a:lnSpc>
                  <a:spcPts val="3600"/>
                </a:lnSpc>
              </a:pPr>
              <a:r>
                <a:rPr lang="en-US" b="true" sz="3000">
                  <a:solidFill>
                    <a:srgbClr val="0070C0"/>
                  </a:solidFill>
                  <a:latin typeface="Arial Bold"/>
                  <a:ea typeface="Arial Bold"/>
                  <a:cs typeface="Arial Bold"/>
                  <a:sym typeface="Arial Bold"/>
                </a:rPr>
                <a:t>Capítulo 7</a:t>
              </a:r>
            </a:p>
          </p:txBody>
        </p:sp>
      </p:grpSp>
      <p:sp>
        <p:nvSpPr>
          <p:cNvPr name="TextBox 5" id="5"/>
          <p:cNvSpPr txBox="true"/>
          <p:nvPr/>
        </p:nvSpPr>
        <p:spPr>
          <a:xfrm rot="0">
            <a:off x="397857" y="883363"/>
            <a:ext cx="11961081" cy="323850"/>
          </a:xfrm>
          <a:prstGeom prst="rect">
            <a:avLst/>
          </a:prstGeom>
        </p:spPr>
        <p:txBody>
          <a:bodyPr anchor="t" rtlCol="false" tIns="0" lIns="0" bIns="0" rIns="0">
            <a:spAutoFit/>
          </a:bodyPr>
          <a:lstStyle/>
          <a:p>
            <a:pPr algn="l">
              <a:lnSpc>
                <a:spcPts val="2520"/>
              </a:lnSpc>
            </a:pPr>
            <a:r>
              <a:rPr lang="en-US" sz="2100" u="sng">
                <a:solidFill>
                  <a:srgbClr val="0070C0"/>
                </a:solidFill>
                <a:latin typeface="Arial"/>
                <a:ea typeface="Arial"/>
                <a:cs typeface="Arial"/>
                <a:sym typeface="Arial"/>
              </a:rPr>
              <a:t>Slide 7.1 - Classificação do conjunto do eixo (Hard Time, On-Condition e/ou Condition Monitoring)</a:t>
            </a:r>
          </a:p>
        </p:txBody>
      </p:sp>
      <p:sp>
        <p:nvSpPr>
          <p:cNvPr name="TextBox 6" id="6"/>
          <p:cNvSpPr txBox="true"/>
          <p:nvPr/>
        </p:nvSpPr>
        <p:spPr>
          <a:xfrm rot="0">
            <a:off x="15638864" y="45720"/>
            <a:ext cx="2466474" cy="819150"/>
          </a:xfrm>
          <a:prstGeom prst="rect">
            <a:avLst/>
          </a:prstGeom>
        </p:spPr>
        <p:txBody>
          <a:bodyPr anchor="t" rtlCol="false" tIns="0" lIns="0" bIns="0" rIns="0">
            <a:spAutoFit/>
          </a:bodyPr>
          <a:lstStyle/>
          <a:p>
            <a:pPr algn="ctr">
              <a:lnSpc>
                <a:spcPts val="3240"/>
              </a:lnSpc>
            </a:pPr>
            <a:r>
              <a:rPr lang="en-US" sz="2700" u="sng">
                <a:solidFill>
                  <a:srgbClr val="0070C0"/>
                </a:solidFill>
                <a:latin typeface="Aptos"/>
                <a:ea typeface="Aptos"/>
                <a:cs typeface="Aptos"/>
                <a:sym typeface="Aptos"/>
              </a:rPr>
              <a:t>Resp.: </a:t>
            </a:r>
          </a:p>
          <a:p>
            <a:pPr algn="ctr">
              <a:lnSpc>
                <a:spcPts val="3240"/>
              </a:lnSpc>
            </a:pPr>
            <a:r>
              <a:rPr lang="en-US" sz="2700" u="sng">
                <a:solidFill>
                  <a:srgbClr val="0070C0"/>
                </a:solidFill>
                <a:latin typeface="Aptos"/>
                <a:ea typeface="Aptos"/>
                <a:cs typeface="Aptos"/>
                <a:sym typeface="Aptos"/>
              </a:rPr>
              <a:t>Breno Neves</a:t>
            </a:r>
          </a:p>
        </p:txBody>
      </p:sp>
      <p:sp>
        <p:nvSpPr>
          <p:cNvPr name="TextBox 7" id="7"/>
          <p:cNvSpPr txBox="true"/>
          <p:nvPr/>
        </p:nvSpPr>
        <p:spPr>
          <a:xfrm rot="0">
            <a:off x="2504440" y="8598"/>
            <a:ext cx="12821270" cy="638175"/>
          </a:xfrm>
          <a:prstGeom prst="rect">
            <a:avLst/>
          </a:prstGeom>
        </p:spPr>
        <p:txBody>
          <a:bodyPr anchor="t" rtlCol="false" tIns="0" lIns="0" bIns="0" rIns="0">
            <a:spAutoFit/>
          </a:bodyPr>
          <a:lstStyle/>
          <a:p>
            <a:pPr algn="l">
              <a:lnSpc>
                <a:spcPts val="2520"/>
              </a:lnSpc>
            </a:pPr>
            <a:r>
              <a:rPr lang="en-US" b="true" sz="2100">
                <a:solidFill>
                  <a:srgbClr val="0070C0"/>
                </a:solidFill>
                <a:latin typeface="Arial Bold"/>
                <a:ea typeface="Arial Bold"/>
                <a:cs typeface="Arial Bold"/>
                <a:sym typeface="Arial Bold"/>
              </a:rPr>
              <a:t>MSG 2:</a:t>
            </a:r>
            <a:r>
              <a:rPr lang="en-US" sz="2100">
                <a:solidFill>
                  <a:srgbClr val="0070C0"/>
                </a:solidFill>
                <a:latin typeface="Arial"/>
                <a:ea typeface="Arial"/>
                <a:cs typeface="Arial"/>
                <a:sym typeface="Arial"/>
              </a:rPr>
              <a:t> D</a:t>
            </a:r>
            <a:r>
              <a:rPr lang="en-US" sz="2100">
                <a:solidFill>
                  <a:srgbClr val="0070C0"/>
                </a:solidFill>
                <a:latin typeface="Arial"/>
                <a:ea typeface="Arial"/>
                <a:cs typeface="Arial"/>
                <a:sym typeface="Arial"/>
              </a:rPr>
              <a:t>esenvolva uma Análise do Sistema de Compensação do Estabilizador Horizontal considerando os seguintes aspectos :</a:t>
            </a:r>
          </a:p>
        </p:txBody>
      </p:sp>
      <p:sp>
        <p:nvSpPr>
          <p:cNvPr name="TextBox 8" id="8"/>
          <p:cNvSpPr txBox="true"/>
          <p:nvPr/>
        </p:nvSpPr>
        <p:spPr>
          <a:xfrm rot="0">
            <a:off x="523034" y="1840955"/>
            <a:ext cx="16784083" cy="8743714"/>
          </a:xfrm>
          <a:prstGeom prst="rect">
            <a:avLst/>
          </a:prstGeom>
        </p:spPr>
        <p:txBody>
          <a:bodyPr anchor="t" rtlCol="false" tIns="0" lIns="0" bIns="0" rIns="0">
            <a:spAutoFit/>
          </a:bodyPr>
          <a:lstStyle/>
          <a:p>
            <a:pPr algn="l">
              <a:lnSpc>
                <a:spcPts val="4038"/>
              </a:lnSpc>
            </a:pPr>
            <a:r>
              <a:rPr lang="en-US" sz="2884">
                <a:solidFill>
                  <a:srgbClr val="004AAD"/>
                </a:solidFill>
                <a:latin typeface="Arial"/>
                <a:ea typeface="Arial"/>
                <a:cs typeface="Arial"/>
                <a:sym typeface="Arial"/>
              </a:rPr>
              <a:t>    O jackscrew (conjunto eixo + porca acme) é o componente que ajusta o estabilizador horizontal. Ele suporta toda a carga aerodinâmica no plano de cauda. </a:t>
            </a:r>
          </a:p>
          <a:p>
            <a:pPr algn="l">
              <a:lnSpc>
                <a:spcPts val="4038"/>
              </a:lnSpc>
            </a:pPr>
            <a:r>
              <a:rPr lang="en-US" sz="2884">
                <a:solidFill>
                  <a:srgbClr val="004AAD"/>
                </a:solidFill>
                <a:latin typeface="Arial"/>
                <a:ea typeface="Arial"/>
                <a:cs typeface="Arial"/>
                <a:sym typeface="Arial"/>
              </a:rPr>
              <a:t>     Sob a filosofia MSG-2, deveria ter dupla classificação:</a:t>
            </a:r>
          </a:p>
          <a:p>
            <a:pPr algn="l">
              <a:lnSpc>
                <a:spcPts val="4038"/>
              </a:lnSpc>
            </a:pPr>
          </a:p>
          <a:p>
            <a:pPr algn="l">
              <a:lnSpc>
                <a:spcPts val="4038"/>
              </a:lnSpc>
            </a:pPr>
            <a:r>
              <a:rPr lang="en-US" b="true" sz="2884">
                <a:solidFill>
                  <a:srgbClr val="004AAD"/>
                </a:solidFill>
                <a:latin typeface="Arial Bold"/>
                <a:ea typeface="Arial Bold"/>
                <a:cs typeface="Arial Bold"/>
                <a:sym typeface="Arial Bold"/>
              </a:rPr>
              <a:t> Hard Time (HT): </a:t>
            </a:r>
            <a:r>
              <a:rPr lang="en-US" sz="2884">
                <a:solidFill>
                  <a:srgbClr val="004AAD"/>
                </a:solidFill>
                <a:latin typeface="Arial"/>
                <a:ea typeface="Arial"/>
                <a:cs typeface="Arial"/>
                <a:sym typeface="Arial"/>
              </a:rPr>
              <a:t>tarefas preventivas obrigatórias, como </a:t>
            </a:r>
            <a:r>
              <a:rPr lang="en-US" sz="2884">
                <a:solidFill>
                  <a:srgbClr val="004AAD"/>
                </a:solidFill>
                <a:latin typeface="Arial"/>
                <a:ea typeface="Arial"/>
                <a:cs typeface="Arial"/>
                <a:sym typeface="Arial"/>
              </a:rPr>
              <a:t>lubrificação periódica, porque o desgaste da rosca é inevitável.</a:t>
            </a:r>
          </a:p>
          <a:p>
            <a:pPr algn="l">
              <a:lnSpc>
                <a:spcPts val="4038"/>
              </a:lnSpc>
            </a:pPr>
            <a:r>
              <a:rPr lang="en-US" sz="2884">
                <a:solidFill>
                  <a:srgbClr val="004AAD"/>
                </a:solidFill>
                <a:latin typeface="Arial"/>
                <a:ea typeface="Arial"/>
                <a:cs typeface="Arial"/>
                <a:sym typeface="Arial"/>
              </a:rPr>
              <a:t> </a:t>
            </a:r>
            <a:r>
              <a:rPr lang="en-US" b="true" sz="2884">
                <a:solidFill>
                  <a:srgbClr val="004AAD"/>
                </a:solidFill>
                <a:latin typeface="Arial Bold"/>
                <a:ea typeface="Arial Bold"/>
                <a:cs typeface="Arial Bold"/>
                <a:sym typeface="Arial Bold"/>
              </a:rPr>
              <a:t>On-Condition (OC): </a:t>
            </a:r>
            <a:r>
              <a:rPr lang="en-US" sz="2884">
                <a:solidFill>
                  <a:srgbClr val="004AAD"/>
                </a:solidFill>
                <a:latin typeface="Arial"/>
                <a:ea typeface="Arial"/>
                <a:cs typeface="Arial"/>
                <a:sym typeface="Arial"/>
              </a:rPr>
              <a:t>inspeções periódicas de folga axial com relógio comparador, para acompanhar o  desgaste progressivo e permitir substituição antes da falha.</a:t>
            </a:r>
          </a:p>
          <a:p>
            <a:pPr algn="l">
              <a:lnSpc>
                <a:spcPts val="4038"/>
              </a:lnSpc>
            </a:pPr>
          </a:p>
          <a:p>
            <a:pPr algn="l">
              <a:lnSpc>
                <a:spcPts val="4038"/>
              </a:lnSpc>
            </a:pPr>
            <a:r>
              <a:rPr lang="en-US" sz="2884">
                <a:solidFill>
                  <a:srgbClr val="004AAD"/>
                </a:solidFill>
                <a:latin typeface="Arial"/>
                <a:ea typeface="Arial"/>
                <a:cs typeface="Arial"/>
                <a:sym typeface="Arial"/>
              </a:rPr>
              <a:t>     O histórico de 1966 no DC-9 já havia revelado que o jackscrew tinha modo de falha por desgaste acelerado, e por isso foi criada a tarefa de medição de folga axial.</a:t>
            </a:r>
          </a:p>
          <a:p>
            <a:pPr algn="l">
              <a:lnSpc>
                <a:spcPts val="4038"/>
              </a:lnSpc>
            </a:pPr>
            <a:r>
              <a:rPr lang="en-US" sz="2884">
                <a:solidFill>
                  <a:srgbClr val="004AAD"/>
                </a:solidFill>
                <a:latin typeface="Arial"/>
                <a:ea typeface="Arial"/>
                <a:cs typeface="Arial"/>
                <a:sym typeface="Arial"/>
              </a:rPr>
              <a:t>     O acidente de 2000 mostrou que a Alaska Airlines não registrava valores de folga axial e estendeu o intervalo de lubrificação de 600h para 3.600h.</a:t>
            </a:r>
          </a:p>
          <a:p>
            <a:pPr algn="l">
              <a:lnSpc>
                <a:spcPts val="4038"/>
              </a:lnSpc>
            </a:pPr>
            <a:r>
              <a:rPr lang="en-US" sz="2884">
                <a:solidFill>
                  <a:srgbClr val="004AAD"/>
                </a:solidFill>
                <a:latin typeface="Arial"/>
                <a:ea typeface="Arial"/>
                <a:cs typeface="Arial"/>
                <a:sym typeface="Arial"/>
              </a:rPr>
              <a:t>     A eliminação prática do controle On-Condition + extensão indevida do Hard Time retirou todas as barreiras de segurança, deixando o componente operar até a falha catastrófica.</a:t>
            </a:r>
          </a:p>
          <a:p>
            <a:pPr algn="l">
              <a:lnSpc>
                <a:spcPts val="4038"/>
              </a:lnSpc>
            </a:pPr>
          </a:p>
          <a:p>
            <a:pPr algn="ctr">
              <a:lnSpc>
                <a:spcPts val="5437"/>
              </a:lnSpc>
              <a:spcBef>
                <a:spcPct val="0"/>
              </a:spcBef>
            </a:pPr>
          </a:p>
        </p:txBody>
      </p:sp>
    </p:spTree>
  </p:cSld>
  <p:clrMapOvr>
    <a:masterClrMapping/>
  </p:clrMapOvr>
  <p:transition spd="fast">
    <p:fade/>
  </p:transition>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06417" y="188020"/>
            <a:ext cx="2106584" cy="621841"/>
            <a:chOff x="0" y="0"/>
            <a:chExt cx="2808778" cy="829121"/>
          </a:xfrm>
        </p:grpSpPr>
        <p:sp>
          <p:nvSpPr>
            <p:cNvPr name="Freeform 3" id="3"/>
            <p:cNvSpPr/>
            <p:nvPr/>
          </p:nvSpPr>
          <p:spPr>
            <a:xfrm flipH="false" flipV="false" rot="0">
              <a:off x="0" y="0"/>
              <a:ext cx="2808778" cy="829121"/>
            </a:xfrm>
            <a:custGeom>
              <a:avLst/>
              <a:gdLst/>
              <a:ahLst/>
              <a:cxnLst/>
              <a:rect r="r" b="b" t="t" l="l"/>
              <a:pathLst>
                <a:path h="829121" w="2808778">
                  <a:moveTo>
                    <a:pt x="0" y="0"/>
                  </a:moveTo>
                  <a:lnTo>
                    <a:pt x="2808778" y="0"/>
                  </a:lnTo>
                  <a:lnTo>
                    <a:pt x="2808778" y="829121"/>
                  </a:lnTo>
                  <a:lnTo>
                    <a:pt x="0" y="829121"/>
                  </a:lnTo>
                  <a:close/>
                </a:path>
              </a:pathLst>
            </a:custGeom>
            <a:solidFill>
              <a:srgbClr val="000000">
                <a:alpha val="0"/>
              </a:srgbClr>
            </a:solidFill>
          </p:spPr>
        </p:sp>
        <p:sp>
          <p:nvSpPr>
            <p:cNvPr name="TextBox 4" id="4"/>
            <p:cNvSpPr txBox="true"/>
            <p:nvPr/>
          </p:nvSpPr>
          <p:spPr>
            <a:xfrm>
              <a:off x="0" y="-19050"/>
              <a:ext cx="2808778" cy="848171"/>
            </a:xfrm>
            <a:prstGeom prst="rect">
              <a:avLst/>
            </a:prstGeom>
          </p:spPr>
          <p:txBody>
            <a:bodyPr anchor="ctr" rtlCol="false" tIns="0" lIns="0" bIns="0" rIns="0"/>
            <a:lstStyle/>
            <a:p>
              <a:pPr algn="l">
                <a:lnSpc>
                  <a:spcPts val="3600"/>
                </a:lnSpc>
              </a:pPr>
              <a:r>
                <a:rPr lang="en-US" b="true" sz="3000">
                  <a:solidFill>
                    <a:srgbClr val="0070C0"/>
                  </a:solidFill>
                  <a:latin typeface="Arial Bold"/>
                  <a:ea typeface="Arial Bold"/>
                  <a:cs typeface="Arial Bold"/>
                  <a:sym typeface="Arial Bold"/>
                </a:rPr>
                <a:t>Capítulo 8</a:t>
              </a:r>
            </a:p>
          </p:txBody>
        </p:sp>
      </p:grpSp>
      <p:sp>
        <p:nvSpPr>
          <p:cNvPr name="TextBox 5" id="5"/>
          <p:cNvSpPr txBox="true"/>
          <p:nvPr/>
        </p:nvSpPr>
        <p:spPr>
          <a:xfrm rot="0">
            <a:off x="2504440" y="8598"/>
            <a:ext cx="12821270" cy="952500"/>
          </a:xfrm>
          <a:prstGeom prst="rect">
            <a:avLst/>
          </a:prstGeom>
        </p:spPr>
        <p:txBody>
          <a:bodyPr anchor="t" rtlCol="false" tIns="0" lIns="0" bIns="0" rIns="0">
            <a:spAutoFit/>
          </a:bodyPr>
          <a:lstStyle/>
          <a:p>
            <a:pPr algn="l">
              <a:lnSpc>
                <a:spcPts val="2520"/>
              </a:lnSpc>
            </a:pPr>
            <a:r>
              <a:rPr lang="en-US" b="true" sz="2100">
                <a:solidFill>
                  <a:srgbClr val="0070C0"/>
                </a:solidFill>
                <a:latin typeface="Arial Bold"/>
                <a:ea typeface="Arial Bold"/>
                <a:cs typeface="Arial Bold"/>
                <a:sym typeface="Arial Bold"/>
              </a:rPr>
              <a:t>MSG3: </a:t>
            </a:r>
            <a:r>
              <a:rPr lang="en-US" sz="2100">
                <a:solidFill>
                  <a:srgbClr val="0070C0"/>
                </a:solidFill>
                <a:latin typeface="Arial"/>
                <a:ea typeface="Arial"/>
                <a:cs typeface="Arial"/>
                <a:sym typeface="Arial"/>
              </a:rPr>
              <a:t>Desenvolva análises de Sistemas, de Estruturas e Zonal do Sistema de Compensação do Estabilizador Horizontal considerando os seguintes aspectos:</a:t>
            </a:r>
          </a:p>
          <a:p>
            <a:pPr algn="l">
              <a:lnSpc>
                <a:spcPts val="2520"/>
              </a:lnSpc>
            </a:pPr>
          </a:p>
        </p:txBody>
      </p:sp>
      <p:sp>
        <p:nvSpPr>
          <p:cNvPr name="TextBox 6" id="6"/>
          <p:cNvSpPr txBox="true"/>
          <p:nvPr/>
        </p:nvSpPr>
        <p:spPr>
          <a:xfrm rot="0">
            <a:off x="397857" y="883363"/>
            <a:ext cx="5905448" cy="323850"/>
          </a:xfrm>
          <a:prstGeom prst="rect">
            <a:avLst/>
          </a:prstGeom>
        </p:spPr>
        <p:txBody>
          <a:bodyPr anchor="t" rtlCol="false" tIns="0" lIns="0" bIns="0" rIns="0">
            <a:spAutoFit/>
          </a:bodyPr>
          <a:lstStyle/>
          <a:p>
            <a:pPr algn="l">
              <a:lnSpc>
                <a:spcPts val="2520"/>
              </a:lnSpc>
            </a:pPr>
            <a:r>
              <a:rPr lang="en-US" sz="2100" u="sng">
                <a:solidFill>
                  <a:srgbClr val="0070C0"/>
                </a:solidFill>
                <a:latin typeface="Arial"/>
                <a:ea typeface="Arial"/>
                <a:cs typeface="Arial"/>
                <a:sym typeface="Arial"/>
              </a:rPr>
              <a:t>Slide 8.1 - Teste Operacional X Teste Funcional</a:t>
            </a:r>
          </a:p>
        </p:txBody>
      </p:sp>
      <p:sp>
        <p:nvSpPr>
          <p:cNvPr name="TextBox 7" id="7"/>
          <p:cNvSpPr txBox="true"/>
          <p:nvPr/>
        </p:nvSpPr>
        <p:spPr>
          <a:xfrm rot="0">
            <a:off x="15638864" y="45720"/>
            <a:ext cx="2466474" cy="819150"/>
          </a:xfrm>
          <a:prstGeom prst="rect">
            <a:avLst/>
          </a:prstGeom>
        </p:spPr>
        <p:txBody>
          <a:bodyPr anchor="t" rtlCol="false" tIns="0" lIns="0" bIns="0" rIns="0">
            <a:spAutoFit/>
          </a:bodyPr>
          <a:lstStyle/>
          <a:p>
            <a:pPr algn="ctr">
              <a:lnSpc>
                <a:spcPts val="3240"/>
              </a:lnSpc>
            </a:pPr>
            <a:r>
              <a:rPr lang="en-US" sz="2700" u="sng">
                <a:solidFill>
                  <a:srgbClr val="0070C0"/>
                </a:solidFill>
                <a:latin typeface="Aptos"/>
                <a:ea typeface="Aptos"/>
                <a:cs typeface="Aptos"/>
                <a:sym typeface="Aptos"/>
              </a:rPr>
              <a:t>Resp.: </a:t>
            </a:r>
          </a:p>
          <a:p>
            <a:pPr algn="ctr">
              <a:lnSpc>
                <a:spcPts val="3240"/>
              </a:lnSpc>
            </a:pPr>
            <a:r>
              <a:rPr lang="en-US" sz="2700" u="sng">
                <a:solidFill>
                  <a:srgbClr val="0070C0"/>
                </a:solidFill>
                <a:latin typeface="Aptos"/>
                <a:ea typeface="Aptos"/>
                <a:cs typeface="Aptos"/>
                <a:sym typeface="Aptos"/>
              </a:rPr>
              <a:t>Breno Neves</a:t>
            </a:r>
          </a:p>
        </p:txBody>
      </p:sp>
      <p:sp>
        <p:nvSpPr>
          <p:cNvPr name="TextBox 8" id="8"/>
          <p:cNvSpPr txBox="true"/>
          <p:nvPr/>
        </p:nvSpPr>
        <p:spPr>
          <a:xfrm rot="0">
            <a:off x="281522" y="2060810"/>
            <a:ext cx="16463913" cy="9143130"/>
          </a:xfrm>
          <a:prstGeom prst="rect">
            <a:avLst/>
          </a:prstGeom>
        </p:spPr>
        <p:txBody>
          <a:bodyPr anchor="t" rtlCol="false" tIns="0" lIns="0" bIns="0" rIns="0">
            <a:spAutoFit/>
          </a:bodyPr>
          <a:lstStyle/>
          <a:p>
            <a:pPr algn="l">
              <a:lnSpc>
                <a:spcPts val="5157"/>
              </a:lnSpc>
            </a:pPr>
            <a:r>
              <a:rPr lang="en-US" sz="3684">
                <a:solidFill>
                  <a:srgbClr val="004AAD"/>
                </a:solidFill>
                <a:latin typeface="Arial"/>
                <a:ea typeface="Arial"/>
                <a:cs typeface="Arial"/>
                <a:sym typeface="Arial"/>
              </a:rPr>
              <a:t> </a:t>
            </a:r>
            <a:r>
              <a:rPr lang="en-US" b="true" sz="3684">
                <a:solidFill>
                  <a:srgbClr val="004AAD"/>
                </a:solidFill>
                <a:latin typeface="Arial Bold"/>
                <a:ea typeface="Arial Bold"/>
                <a:cs typeface="Arial Bold"/>
                <a:sym typeface="Arial Bold"/>
              </a:rPr>
              <a:t>Teste</a:t>
            </a:r>
            <a:r>
              <a:rPr lang="en-US" b="true" sz="3684">
                <a:solidFill>
                  <a:srgbClr val="004AAD"/>
                </a:solidFill>
                <a:latin typeface="Arial Bold"/>
                <a:ea typeface="Arial Bold"/>
                <a:cs typeface="Arial Bold"/>
                <a:sym typeface="Arial Bold"/>
              </a:rPr>
              <a:t> operacional:</a:t>
            </a:r>
            <a:r>
              <a:rPr lang="en-US" sz="3684">
                <a:solidFill>
                  <a:srgbClr val="004AAD"/>
                </a:solidFill>
                <a:latin typeface="Arial"/>
                <a:ea typeface="Arial"/>
                <a:cs typeface="Arial"/>
                <a:sym typeface="Arial"/>
              </a:rPr>
              <a:t> </a:t>
            </a:r>
            <a:r>
              <a:rPr lang="en-US" sz="3684">
                <a:solidFill>
                  <a:srgbClr val="004AAD"/>
                </a:solidFill>
                <a:latin typeface="Arial"/>
                <a:ea typeface="Arial"/>
                <a:cs typeface="Arial"/>
                <a:sym typeface="Arial"/>
              </a:rPr>
              <a:t>apenas confirma se o trim move o estabilizador em toda a amplitude mas não avalia condições internas da rosca.</a:t>
            </a:r>
          </a:p>
          <a:p>
            <a:pPr algn="l">
              <a:lnSpc>
                <a:spcPts val="5157"/>
              </a:lnSpc>
            </a:pPr>
            <a:r>
              <a:rPr lang="en-US" sz="3684">
                <a:solidFill>
                  <a:srgbClr val="004AAD"/>
                </a:solidFill>
                <a:latin typeface="Arial"/>
                <a:ea typeface="Arial"/>
                <a:cs typeface="Arial"/>
                <a:sym typeface="Arial"/>
              </a:rPr>
              <a:t> </a:t>
            </a:r>
            <a:r>
              <a:rPr lang="en-US" b="true" sz="3684">
                <a:solidFill>
                  <a:srgbClr val="004AAD"/>
                </a:solidFill>
                <a:latin typeface="Arial Bold"/>
                <a:ea typeface="Arial Bold"/>
                <a:cs typeface="Arial Bold"/>
                <a:sym typeface="Arial Bold"/>
              </a:rPr>
              <a:t>Teste funcional:</a:t>
            </a:r>
            <a:r>
              <a:rPr lang="en-US" sz="3684">
                <a:solidFill>
                  <a:srgbClr val="004AAD"/>
                </a:solidFill>
                <a:latin typeface="Arial"/>
                <a:ea typeface="Arial"/>
                <a:cs typeface="Arial"/>
                <a:sym typeface="Arial"/>
              </a:rPr>
              <a:t> </a:t>
            </a:r>
            <a:r>
              <a:rPr lang="en-US" sz="3684">
                <a:solidFill>
                  <a:srgbClr val="004AAD"/>
                </a:solidFill>
                <a:latin typeface="Arial"/>
                <a:ea typeface="Arial"/>
                <a:cs typeface="Arial"/>
                <a:sym typeface="Arial"/>
              </a:rPr>
              <a:t>envolve medições instrumentais, como torque necessário para movimentar o eixo e folga axial → detecta desgaste crítico.</a:t>
            </a:r>
          </a:p>
          <a:p>
            <a:pPr algn="l">
              <a:lnSpc>
                <a:spcPts val="5157"/>
              </a:lnSpc>
            </a:pPr>
            <a:r>
              <a:rPr lang="en-US" sz="3684">
                <a:solidFill>
                  <a:srgbClr val="004AAD"/>
                </a:solidFill>
                <a:latin typeface="Arial"/>
                <a:ea typeface="Arial"/>
                <a:cs typeface="Arial"/>
                <a:sym typeface="Arial"/>
              </a:rPr>
              <a:t>     </a:t>
            </a:r>
          </a:p>
          <a:p>
            <a:pPr algn="l">
              <a:lnSpc>
                <a:spcPts val="5157"/>
              </a:lnSpc>
            </a:pPr>
            <a:r>
              <a:rPr lang="en-US" sz="3684">
                <a:solidFill>
                  <a:srgbClr val="004AAD"/>
                </a:solidFill>
                <a:latin typeface="Arial"/>
                <a:ea typeface="Arial"/>
                <a:cs typeface="Arial"/>
                <a:sym typeface="Arial"/>
              </a:rPr>
              <a:t>     </a:t>
            </a:r>
            <a:r>
              <a:rPr lang="en-US" sz="3684">
                <a:solidFill>
                  <a:srgbClr val="004AAD"/>
                </a:solidFill>
                <a:latin typeface="Arial"/>
                <a:ea typeface="Arial"/>
                <a:cs typeface="Arial"/>
                <a:sym typeface="Arial"/>
              </a:rPr>
              <a:t>A Alaska Airlines aplicava somente o teste operacional, confiando no fato de que o estabilizador “funcionava”.</a:t>
            </a:r>
          </a:p>
          <a:p>
            <a:pPr algn="l">
              <a:lnSpc>
                <a:spcPts val="5157"/>
              </a:lnSpc>
            </a:pPr>
            <a:r>
              <a:rPr lang="en-US" sz="3684">
                <a:solidFill>
                  <a:srgbClr val="004AAD"/>
                </a:solidFill>
                <a:latin typeface="Arial"/>
                <a:ea typeface="Arial"/>
                <a:cs typeface="Arial"/>
                <a:sym typeface="Arial"/>
              </a:rPr>
              <a:t>     Essa prática foi um erro grave, pois permitiu que o jackscrew continuasse sendo operado mesmo com desgaste quase total da rosca, sem qualquer alerta.</a:t>
            </a:r>
          </a:p>
          <a:p>
            <a:pPr algn="l">
              <a:lnSpc>
                <a:spcPts val="5157"/>
              </a:lnSpc>
            </a:pPr>
            <a:r>
              <a:rPr lang="en-US" sz="3684">
                <a:solidFill>
                  <a:srgbClr val="004AAD"/>
                </a:solidFill>
                <a:latin typeface="Arial"/>
                <a:ea typeface="Arial"/>
                <a:cs typeface="Arial"/>
                <a:sym typeface="Arial"/>
              </a:rPr>
              <a:t>     A NTSB concluiu que a ausência de testes funcionais regulares foi fator direto para que a falha evoluísse sem detecção.</a:t>
            </a:r>
          </a:p>
          <a:p>
            <a:pPr algn="l">
              <a:lnSpc>
                <a:spcPts val="5437"/>
              </a:lnSpc>
            </a:pPr>
          </a:p>
          <a:p>
            <a:pPr algn="l">
              <a:lnSpc>
                <a:spcPts val="5437"/>
              </a:lnSpc>
            </a:pPr>
          </a:p>
        </p:txBody>
      </p:sp>
    </p:spTree>
  </p:cSld>
  <p:clrMapOvr>
    <a:masterClrMapping/>
  </p:clrMapOvr>
  <p:transition spd="fast">
    <p:fade/>
  </p:transition>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06417" y="188020"/>
            <a:ext cx="2106584" cy="621841"/>
            <a:chOff x="0" y="0"/>
            <a:chExt cx="2808778" cy="829121"/>
          </a:xfrm>
        </p:grpSpPr>
        <p:sp>
          <p:nvSpPr>
            <p:cNvPr name="Freeform 3" id="3"/>
            <p:cNvSpPr/>
            <p:nvPr/>
          </p:nvSpPr>
          <p:spPr>
            <a:xfrm flipH="false" flipV="false" rot="0">
              <a:off x="0" y="0"/>
              <a:ext cx="2808778" cy="829121"/>
            </a:xfrm>
            <a:custGeom>
              <a:avLst/>
              <a:gdLst/>
              <a:ahLst/>
              <a:cxnLst/>
              <a:rect r="r" b="b" t="t" l="l"/>
              <a:pathLst>
                <a:path h="829121" w="2808778">
                  <a:moveTo>
                    <a:pt x="0" y="0"/>
                  </a:moveTo>
                  <a:lnTo>
                    <a:pt x="2808778" y="0"/>
                  </a:lnTo>
                  <a:lnTo>
                    <a:pt x="2808778" y="829121"/>
                  </a:lnTo>
                  <a:lnTo>
                    <a:pt x="0" y="829121"/>
                  </a:lnTo>
                  <a:close/>
                </a:path>
              </a:pathLst>
            </a:custGeom>
            <a:solidFill>
              <a:srgbClr val="000000">
                <a:alpha val="0"/>
              </a:srgbClr>
            </a:solidFill>
          </p:spPr>
        </p:sp>
        <p:sp>
          <p:nvSpPr>
            <p:cNvPr name="TextBox 4" id="4"/>
            <p:cNvSpPr txBox="true"/>
            <p:nvPr/>
          </p:nvSpPr>
          <p:spPr>
            <a:xfrm>
              <a:off x="0" y="-19050"/>
              <a:ext cx="2808778" cy="848171"/>
            </a:xfrm>
            <a:prstGeom prst="rect">
              <a:avLst/>
            </a:prstGeom>
          </p:spPr>
          <p:txBody>
            <a:bodyPr anchor="ctr" rtlCol="false" tIns="0" lIns="0" bIns="0" rIns="0"/>
            <a:lstStyle/>
            <a:p>
              <a:pPr algn="l">
                <a:lnSpc>
                  <a:spcPts val="3600"/>
                </a:lnSpc>
              </a:pPr>
              <a:r>
                <a:rPr lang="en-US" b="true" sz="3000">
                  <a:solidFill>
                    <a:srgbClr val="0070C0"/>
                  </a:solidFill>
                  <a:latin typeface="Arial Bold"/>
                  <a:ea typeface="Arial Bold"/>
                  <a:cs typeface="Arial Bold"/>
                  <a:sym typeface="Arial Bold"/>
                </a:rPr>
                <a:t>Capítulo 8</a:t>
              </a:r>
            </a:p>
          </p:txBody>
        </p:sp>
      </p:grpSp>
      <p:sp>
        <p:nvSpPr>
          <p:cNvPr name="TextBox 5" id="5"/>
          <p:cNvSpPr txBox="true"/>
          <p:nvPr/>
        </p:nvSpPr>
        <p:spPr>
          <a:xfrm rot="0">
            <a:off x="2504440" y="8598"/>
            <a:ext cx="12821270" cy="638175"/>
          </a:xfrm>
          <a:prstGeom prst="rect">
            <a:avLst/>
          </a:prstGeom>
        </p:spPr>
        <p:txBody>
          <a:bodyPr anchor="t" rtlCol="false" tIns="0" lIns="0" bIns="0" rIns="0">
            <a:spAutoFit/>
          </a:bodyPr>
          <a:lstStyle/>
          <a:p>
            <a:pPr algn="l">
              <a:lnSpc>
                <a:spcPts val="2520"/>
              </a:lnSpc>
            </a:pPr>
            <a:r>
              <a:rPr lang="en-US" b="true" sz="2100">
                <a:solidFill>
                  <a:srgbClr val="0070C0"/>
                </a:solidFill>
                <a:latin typeface="Arial Bold"/>
                <a:ea typeface="Arial Bold"/>
                <a:cs typeface="Arial Bold"/>
                <a:sym typeface="Arial Bold"/>
              </a:rPr>
              <a:t>MSG3: </a:t>
            </a:r>
            <a:r>
              <a:rPr lang="en-US" sz="2100">
                <a:solidFill>
                  <a:srgbClr val="0070C0"/>
                </a:solidFill>
                <a:latin typeface="Arial"/>
                <a:ea typeface="Arial"/>
                <a:cs typeface="Arial"/>
                <a:sym typeface="Arial"/>
              </a:rPr>
              <a:t>Desenvolva aná</a:t>
            </a:r>
            <a:r>
              <a:rPr lang="en-US" sz="2100">
                <a:solidFill>
                  <a:srgbClr val="0070C0"/>
                </a:solidFill>
                <a:latin typeface="Arial"/>
                <a:ea typeface="Arial"/>
                <a:cs typeface="Arial"/>
                <a:sym typeface="Arial"/>
              </a:rPr>
              <a:t>lises de Sistemas, de Estruturas e Zonal do Sistema de Compensação do Estabilizador Horizontal considerando os seguintes aspectos:</a:t>
            </a:r>
          </a:p>
        </p:txBody>
      </p:sp>
      <p:sp>
        <p:nvSpPr>
          <p:cNvPr name="TextBox 6" id="6"/>
          <p:cNvSpPr txBox="true"/>
          <p:nvPr/>
        </p:nvSpPr>
        <p:spPr>
          <a:xfrm rot="0">
            <a:off x="397857" y="883363"/>
            <a:ext cx="10045752" cy="638175"/>
          </a:xfrm>
          <a:prstGeom prst="rect">
            <a:avLst/>
          </a:prstGeom>
        </p:spPr>
        <p:txBody>
          <a:bodyPr anchor="t" rtlCol="false" tIns="0" lIns="0" bIns="0" rIns="0">
            <a:spAutoFit/>
          </a:bodyPr>
          <a:lstStyle/>
          <a:p>
            <a:pPr algn="l">
              <a:lnSpc>
                <a:spcPts val="2520"/>
              </a:lnSpc>
            </a:pPr>
            <a:r>
              <a:rPr lang="en-US" sz="2100" u="sng">
                <a:solidFill>
                  <a:srgbClr val="0070C0"/>
                </a:solidFill>
                <a:latin typeface="Arial"/>
                <a:ea typeface="Arial"/>
                <a:cs typeface="Arial"/>
                <a:sym typeface="Arial"/>
              </a:rPr>
              <a:t>Slide 8</a:t>
            </a:r>
            <a:r>
              <a:rPr lang="en-US" sz="2100" u="sng">
                <a:solidFill>
                  <a:srgbClr val="0070C0"/>
                </a:solidFill>
                <a:latin typeface="Arial"/>
                <a:ea typeface="Arial"/>
                <a:cs typeface="Arial"/>
                <a:sym typeface="Arial"/>
              </a:rPr>
              <a:t>.2 - Análise do MSI Sistema de Compensação do Estabilizador Horizontal</a:t>
            </a:r>
          </a:p>
          <a:p>
            <a:pPr algn="l">
              <a:lnSpc>
                <a:spcPts val="2520"/>
              </a:lnSpc>
            </a:pPr>
          </a:p>
        </p:txBody>
      </p:sp>
      <p:sp>
        <p:nvSpPr>
          <p:cNvPr name="TextBox 7" id="7"/>
          <p:cNvSpPr txBox="true"/>
          <p:nvPr/>
        </p:nvSpPr>
        <p:spPr>
          <a:xfrm rot="0">
            <a:off x="15113363" y="45720"/>
            <a:ext cx="2991974" cy="819150"/>
          </a:xfrm>
          <a:prstGeom prst="rect">
            <a:avLst/>
          </a:prstGeom>
        </p:spPr>
        <p:txBody>
          <a:bodyPr anchor="t" rtlCol="false" tIns="0" lIns="0" bIns="0" rIns="0">
            <a:spAutoFit/>
          </a:bodyPr>
          <a:lstStyle/>
          <a:p>
            <a:pPr algn="ctr">
              <a:lnSpc>
                <a:spcPts val="3240"/>
              </a:lnSpc>
            </a:pPr>
            <a:r>
              <a:rPr lang="en-US" sz="2700" u="sng">
                <a:solidFill>
                  <a:srgbClr val="0070C0"/>
                </a:solidFill>
                <a:latin typeface="Aptos"/>
                <a:ea typeface="Aptos"/>
                <a:cs typeface="Aptos"/>
                <a:sym typeface="Aptos"/>
              </a:rPr>
              <a:t>Resp.: </a:t>
            </a:r>
          </a:p>
          <a:p>
            <a:pPr algn="ctr">
              <a:lnSpc>
                <a:spcPts val="3240"/>
              </a:lnSpc>
            </a:pPr>
            <a:r>
              <a:rPr lang="en-US" sz="2700" u="sng">
                <a:solidFill>
                  <a:srgbClr val="0070C0"/>
                </a:solidFill>
                <a:latin typeface="Aptos"/>
                <a:ea typeface="Aptos"/>
                <a:cs typeface="Aptos"/>
                <a:sym typeface="Aptos"/>
              </a:rPr>
              <a:t>Cristiano Teixeira</a:t>
            </a:r>
          </a:p>
        </p:txBody>
      </p:sp>
      <p:sp>
        <p:nvSpPr>
          <p:cNvPr name="TextBox 8" id="8"/>
          <p:cNvSpPr txBox="true"/>
          <p:nvPr/>
        </p:nvSpPr>
        <p:spPr>
          <a:xfrm rot="0">
            <a:off x="1495567" y="2238069"/>
            <a:ext cx="16257465" cy="7176534"/>
          </a:xfrm>
          <a:prstGeom prst="rect">
            <a:avLst/>
          </a:prstGeom>
        </p:spPr>
        <p:txBody>
          <a:bodyPr anchor="t" rtlCol="false" tIns="0" lIns="0" bIns="0" rIns="0">
            <a:spAutoFit/>
          </a:bodyPr>
          <a:lstStyle/>
          <a:p>
            <a:pPr algn="just">
              <a:lnSpc>
                <a:spcPts val="4597"/>
              </a:lnSpc>
            </a:pPr>
            <a:r>
              <a:rPr lang="en-US" sz="3284">
                <a:solidFill>
                  <a:srgbClr val="004AAD"/>
                </a:solidFill>
                <a:latin typeface="Arial"/>
                <a:ea typeface="Arial"/>
                <a:cs typeface="Arial"/>
                <a:sym typeface="Arial"/>
              </a:rPr>
              <a:t>    O sistema</a:t>
            </a:r>
            <a:r>
              <a:rPr lang="en-US" sz="3284">
                <a:solidFill>
                  <a:srgbClr val="004AAD"/>
                </a:solidFill>
                <a:latin typeface="Arial"/>
                <a:ea typeface="Arial"/>
                <a:cs typeface="Arial"/>
                <a:sym typeface="Arial"/>
              </a:rPr>
              <a:t> de </a:t>
            </a:r>
            <a:r>
              <a:rPr lang="en-US" sz="3284">
                <a:solidFill>
                  <a:srgbClr val="004AAD"/>
                </a:solidFill>
                <a:latin typeface="Arial"/>
                <a:ea typeface="Arial"/>
                <a:cs typeface="Arial"/>
                <a:sym typeface="Arial"/>
              </a:rPr>
              <a:t>compensação deveria ser identificado como MSI (item significativo de manutenção) porque:</a:t>
            </a:r>
          </a:p>
          <a:p>
            <a:pPr algn="just" marL="1418152" indent="-472717" lvl="2">
              <a:lnSpc>
                <a:spcPts val="4597"/>
              </a:lnSpc>
              <a:buFont typeface="Arial"/>
              <a:buChar char="⚬"/>
            </a:pPr>
            <a:r>
              <a:rPr lang="en-US" sz="3284">
                <a:solidFill>
                  <a:srgbClr val="004AAD"/>
                </a:solidFill>
                <a:latin typeface="Arial"/>
                <a:ea typeface="Arial"/>
                <a:cs typeface="Arial"/>
                <a:sym typeface="Arial"/>
              </a:rPr>
              <a:t>Sua falha resulta em perda imediata de controle longitudinal;</a:t>
            </a:r>
          </a:p>
          <a:p>
            <a:pPr algn="just" marL="1418152" indent="-472717" lvl="2">
              <a:lnSpc>
                <a:spcPts val="4597"/>
              </a:lnSpc>
              <a:buFont typeface="Arial"/>
              <a:buChar char="⚬"/>
            </a:pPr>
            <a:r>
              <a:rPr lang="en-US" sz="3284">
                <a:solidFill>
                  <a:srgbClr val="004AAD"/>
                </a:solidFill>
                <a:latin typeface="Arial"/>
                <a:ea typeface="Arial"/>
                <a:cs typeface="Arial"/>
                <a:sym typeface="Arial"/>
              </a:rPr>
              <a:t>Não há redundância mecânica: falha única = falha catastrófica.</a:t>
            </a:r>
          </a:p>
          <a:p>
            <a:pPr algn="just">
              <a:lnSpc>
                <a:spcPts val="4597"/>
              </a:lnSpc>
            </a:pPr>
            <a:r>
              <a:rPr lang="en-US" sz="3284">
                <a:solidFill>
                  <a:srgbClr val="004AAD"/>
                </a:solidFill>
                <a:latin typeface="Arial"/>
                <a:ea typeface="Arial"/>
                <a:cs typeface="Arial"/>
                <a:sym typeface="Arial"/>
              </a:rPr>
              <a:t>     </a:t>
            </a:r>
            <a:r>
              <a:rPr lang="en-US" sz="3284">
                <a:solidFill>
                  <a:srgbClr val="004AAD"/>
                </a:solidFill>
                <a:latin typeface="Arial"/>
                <a:ea typeface="Arial"/>
                <a:cs typeface="Arial"/>
                <a:sym typeface="Arial"/>
              </a:rPr>
              <a:t>Apesar disso, no programa da Alaska Airlines ele não foi tratado como MSI crítico, mas sim como um item confiável, com base em histórico de poucas falhas.</a:t>
            </a:r>
          </a:p>
          <a:p>
            <a:pPr algn="just">
              <a:lnSpc>
                <a:spcPts val="4597"/>
              </a:lnSpc>
            </a:pPr>
            <a:r>
              <a:rPr lang="en-US" sz="3284">
                <a:solidFill>
                  <a:srgbClr val="004AAD"/>
                </a:solidFill>
                <a:latin typeface="Arial"/>
                <a:ea typeface="Arial"/>
                <a:cs typeface="Arial"/>
                <a:sym typeface="Arial"/>
              </a:rPr>
              <a:t>  Essa falsa sensação de confiabilidade levou à extensão dos intervalos de manutenção.</a:t>
            </a:r>
          </a:p>
          <a:p>
            <a:pPr algn="just">
              <a:lnSpc>
                <a:spcPts val="4597"/>
              </a:lnSpc>
            </a:pPr>
            <a:r>
              <a:rPr lang="en-US" sz="3284">
                <a:solidFill>
                  <a:srgbClr val="004AAD"/>
                </a:solidFill>
                <a:latin typeface="Arial"/>
                <a:ea typeface="Arial"/>
                <a:cs typeface="Arial"/>
                <a:sym typeface="Arial"/>
              </a:rPr>
              <a:t>     O acidente evidenciou que um item classificado incorretamente pode se tornar um “single point of failure”, contrariando a filosofia de segurança do MSG-3.</a:t>
            </a:r>
          </a:p>
          <a:p>
            <a:pPr algn="just">
              <a:lnSpc>
                <a:spcPts val="5437"/>
              </a:lnSpc>
            </a:pPr>
          </a:p>
          <a:p>
            <a:pPr algn="just">
              <a:lnSpc>
                <a:spcPts val="5437"/>
              </a:lnSpc>
            </a:pPr>
          </a:p>
        </p:txBody>
      </p:sp>
    </p:spTree>
  </p:cSld>
  <p:clrMapOvr>
    <a:masterClrMapping/>
  </p:clrMapOvr>
  <p:transition spd="fast">
    <p:fade/>
  </p:transition>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06417" y="188020"/>
            <a:ext cx="2106584" cy="621841"/>
            <a:chOff x="0" y="0"/>
            <a:chExt cx="2808778" cy="829121"/>
          </a:xfrm>
        </p:grpSpPr>
        <p:sp>
          <p:nvSpPr>
            <p:cNvPr name="Freeform 3" id="3"/>
            <p:cNvSpPr/>
            <p:nvPr/>
          </p:nvSpPr>
          <p:spPr>
            <a:xfrm flipH="false" flipV="false" rot="0">
              <a:off x="0" y="0"/>
              <a:ext cx="2808778" cy="829121"/>
            </a:xfrm>
            <a:custGeom>
              <a:avLst/>
              <a:gdLst/>
              <a:ahLst/>
              <a:cxnLst/>
              <a:rect r="r" b="b" t="t" l="l"/>
              <a:pathLst>
                <a:path h="829121" w="2808778">
                  <a:moveTo>
                    <a:pt x="0" y="0"/>
                  </a:moveTo>
                  <a:lnTo>
                    <a:pt x="2808778" y="0"/>
                  </a:lnTo>
                  <a:lnTo>
                    <a:pt x="2808778" y="829121"/>
                  </a:lnTo>
                  <a:lnTo>
                    <a:pt x="0" y="829121"/>
                  </a:lnTo>
                  <a:close/>
                </a:path>
              </a:pathLst>
            </a:custGeom>
            <a:solidFill>
              <a:srgbClr val="000000">
                <a:alpha val="0"/>
              </a:srgbClr>
            </a:solidFill>
          </p:spPr>
        </p:sp>
        <p:sp>
          <p:nvSpPr>
            <p:cNvPr name="TextBox 4" id="4"/>
            <p:cNvSpPr txBox="true"/>
            <p:nvPr/>
          </p:nvSpPr>
          <p:spPr>
            <a:xfrm>
              <a:off x="0" y="-19050"/>
              <a:ext cx="2808778" cy="848171"/>
            </a:xfrm>
            <a:prstGeom prst="rect">
              <a:avLst/>
            </a:prstGeom>
          </p:spPr>
          <p:txBody>
            <a:bodyPr anchor="ctr" rtlCol="false" tIns="0" lIns="0" bIns="0" rIns="0"/>
            <a:lstStyle/>
            <a:p>
              <a:pPr algn="l">
                <a:lnSpc>
                  <a:spcPts val="3600"/>
                </a:lnSpc>
              </a:pPr>
              <a:r>
                <a:rPr lang="en-US" b="true" sz="3000">
                  <a:solidFill>
                    <a:srgbClr val="0070C0"/>
                  </a:solidFill>
                  <a:latin typeface="Arial Bold"/>
                  <a:ea typeface="Arial Bold"/>
                  <a:cs typeface="Arial Bold"/>
                  <a:sym typeface="Arial Bold"/>
                </a:rPr>
                <a:t>Capítulo 8</a:t>
              </a:r>
            </a:p>
          </p:txBody>
        </p:sp>
      </p:grpSp>
      <p:sp>
        <p:nvSpPr>
          <p:cNvPr name="TextBox 5" id="5"/>
          <p:cNvSpPr txBox="true"/>
          <p:nvPr/>
        </p:nvSpPr>
        <p:spPr>
          <a:xfrm rot="0">
            <a:off x="397857" y="883363"/>
            <a:ext cx="10627914" cy="638175"/>
          </a:xfrm>
          <a:prstGeom prst="rect">
            <a:avLst/>
          </a:prstGeom>
        </p:spPr>
        <p:txBody>
          <a:bodyPr anchor="t" rtlCol="false" tIns="0" lIns="0" bIns="0" rIns="0">
            <a:spAutoFit/>
          </a:bodyPr>
          <a:lstStyle/>
          <a:p>
            <a:pPr algn="l">
              <a:lnSpc>
                <a:spcPts val="2520"/>
              </a:lnSpc>
            </a:pPr>
            <a:r>
              <a:rPr lang="en-US" sz="2100" u="sng">
                <a:solidFill>
                  <a:srgbClr val="0070C0"/>
                </a:solidFill>
                <a:latin typeface="Arial"/>
                <a:ea typeface="Arial"/>
                <a:cs typeface="Arial"/>
                <a:sym typeface="Arial"/>
              </a:rPr>
              <a:t>Slide 8.3 - Análise do SSI Conjunto de Compensação do Estabilizador Horizontal</a:t>
            </a:r>
          </a:p>
          <a:p>
            <a:pPr algn="l">
              <a:lnSpc>
                <a:spcPts val="2520"/>
              </a:lnSpc>
            </a:pPr>
          </a:p>
        </p:txBody>
      </p:sp>
      <p:sp>
        <p:nvSpPr>
          <p:cNvPr name="TextBox 6" id="6"/>
          <p:cNvSpPr txBox="true"/>
          <p:nvPr/>
        </p:nvSpPr>
        <p:spPr>
          <a:xfrm rot="0">
            <a:off x="15224833" y="45720"/>
            <a:ext cx="2880504" cy="1228725"/>
          </a:xfrm>
          <a:prstGeom prst="rect">
            <a:avLst/>
          </a:prstGeom>
        </p:spPr>
        <p:txBody>
          <a:bodyPr anchor="t" rtlCol="false" tIns="0" lIns="0" bIns="0" rIns="0">
            <a:spAutoFit/>
          </a:bodyPr>
          <a:lstStyle/>
          <a:p>
            <a:pPr algn="ctr">
              <a:lnSpc>
                <a:spcPts val="3240"/>
              </a:lnSpc>
            </a:pPr>
            <a:r>
              <a:rPr lang="en-US" sz="2700" u="sng">
                <a:solidFill>
                  <a:srgbClr val="0070C0"/>
                </a:solidFill>
                <a:latin typeface="Aptos"/>
                <a:ea typeface="Aptos"/>
                <a:cs typeface="Aptos"/>
                <a:sym typeface="Aptos"/>
              </a:rPr>
              <a:t>Resp.: </a:t>
            </a:r>
          </a:p>
          <a:p>
            <a:pPr algn="ctr">
              <a:lnSpc>
                <a:spcPts val="3240"/>
              </a:lnSpc>
            </a:pPr>
            <a:r>
              <a:rPr lang="en-US" sz="2700" u="sng">
                <a:solidFill>
                  <a:srgbClr val="0070C0"/>
                </a:solidFill>
                <a:latin typeface="Aptos"/>
                <a:ea typeface="Aptos"/>
                <a:cs typeface="Aptos"/>
                <a:sym typeface="Aptos"/>
              </a:rPr>
              <a:t>Cristiano Teixeira</a:t>
            </a:r>
          </a:p>
          <a:p>
            <a:pPr algn="ctr">
              <a:lnSpc>
                <a:spcPts val="3240"/>
              </a:lnSpc>
            </a:pPr>
          </a:p>
        </p:txBody>
      </p:sp>
      <p:sp>
        <p:nvSpPr>
          <p:cNvPr name="TextBox 7" id="7"/>
          <p:cNvSpPr txBox="true"/>
          <p:nvPr/>
        </p:nvSpPr>
        <p:spPr>
          <a:xfrm rot="0">
            <a:off x="2504440" y="8598"/>
            <a:ext cx="12821270" cy="952500"/>
          </a:xfrm>
          <a:prstGeom prst="rect">
            <a:avLst/>
          </a:prstGeom>
        </p:spPr>
        <p:txBody>
          <a:bodyPr anchor="t" rtlCol="false" tIns="0" lIns="0" bIns="0" rIns="0">
            <a:spAutoFit/>
          </a:bodyPr>
          <a:lstStyle/>
          <a:p>
            <a:pPr algn="l">
              <a:lnSpc>
                <a:spcPts val="2520"/>
              </a:lnSpc>
            </a:pPr>
            <a:r>
              <a:rPr lang="en-US" b="true" sz="2100">
                <a:solidFill>
                  <a:srgbClr val="0070C0"/>
                </a:solidFill>
                <a:latin typeface="Arial Bold"/>
                <a:ea typeface="Arial Bold"/>
                <a:cs typeface="Arial Bold"/>
                <a:sym typeface="Arial Bold"/>
              </a:rPr>
              <a:t>MSG3: </a:t>
            </a:r>
            <a:r>
              <a:rPr lang="en-US" sz="2100">
                <a:solidFill>
                  <a:srgbClr val="0070C0"/>
                </a:solidFill>
                <a:latin typeface="Arial"/>
                <a:ea typeface="Arial"/>
                <a:cs typeface="Arial"/>
                <a:sym typeface="Arial"/>
              </a:rPr>
              <a:t>Desenvo</a:t>
            </a:r>
            <a:r>
              <a:rPr lang="en-US" sz="2100">
                <a:solidFill>
                  <a:srgbClr val="0070C0"/>
                </a:solidFill>
                <a:latin typeface="Arial"/>
                <a:ea typeface="Arial"/>
                <a:cs typeface="Arial"/>
                <a:sym typeface="Arial"/>
              </a:rPr>
              <a:t>lva análises de Sistemas, de Estruturas e Zonal do Sistema de Compensação do Estabilizador Horizontal considerando os seguintes aspectos:</a:t>
            </a:r>
          </a:p>
          <a:p>
            <a:pPr algn="l">
              <a:lnSpc>
                <a:spcPts val="2520"/>
              </a:lnSpc>
            </a:pPr>
          </a:p>
        </p:txBody>
      </p:sp>
      <p:sp>
        <p:nvSpPr>
          <p:cNvPr name="TextBox 8" id="8"/>
          <p:cNvSpPr txBox="true"/>
          <p:nvPr/>
        </p:nvSpPr>
        <p:spPr>
          <a:xfrm rot="0">
            <a:off x="1189204" y="2332057"/>
            <a:ext cx="16280168" cy="8565915"/>
          </a:xfrm>
          <a:prstGeom prst="rect">
            <a:avLst/>
          </a:prstGeom>
        </p:spPr>
        <p:txBody>
          <a:bodyPr anchor="t" rtlCol="false" tIns="0" lIns="0" bIns="0" rIns="0">
            <a:spAutoFit/>
          </a:bodyPr>
          <a:lstStyle/>
          <a:p>
            <a:pPr algn="l">
              <a:lnSpc>
                <a:spcPts val="4737"/>
              </a:lnSpc>
            </a:pPr>
            <a:r>
              <a:rPr lang="en-US" sz="3384">
                <a:solidFill>
                  <a:srgbClr val="004AAD"/>
                </a:solidFill>
                <a:latin typeface="Arial"/>
                <a:ea typeface="Arial"/>
                <a:cs typeface="Arial"/>
                <a:sym typeface="Arial"/>
              </a:rPr>
              <a:t>     O conjunto do jackscrew também deveria</a:t>
            </a:r>
            <a:r>
              <a:rPr lang="en-US" sz="3384">
                <a:solidFill>
                  <a:srgbClr val="004AAD"/>
                </a:solidFill>
                <a:latin typeface="Arial"/>
                <a:ea typeface="Arial"/>
                <a:cs typeface="Arial"/>
                <a:sym typeface="Arial"/>
              </a:rPr>
              <a:t> ser considerado SSI, pois une funções estruturais e de comando primário:</a:t>
            </a:r>
          </a:p>
          <a:p>
            <a:pPr algn="l" marL="730666" indent="-365333" lvl="1">
              <a:lnSpc>
                <a:spcPts val="4737"/>
              </a:lnSpc>
              <a:buFont typeface="Arial"/>
              <a:buChar char="•"/>
            </a:pPr>
            <a:r>
              <a:rPr lang="en-US" sz="3384">
                <a:solidFill>
                  <a:srgbClr val="004AAD"/>
                </a:solidFill>
                <a:latin typeface="Arial"/>
                <a:ea typeface="Arial"/>
                <a:cs typeface="Arial"/>
                <a:sym typeface="Arial"/>
              </a:rPr>
              <a:t>O estabilizador suporta cargas aerodinâmicas de milhares de quilos;</a:t>
            </a:r>
          </a:p>
          <a:p>
            <a:pPr algn="l" marL="730666" indent="-365333" lvl="1">
              <a:lnSpc>
                <a:spcPts val="4737"/>
              </a:lnSpc>
              <a:buFont typeface="Arial"/>
              <a:buChar char="•"/>
            </a:pPr>
            <a:r>
              <a:rPr lang="en-US" sz="3384">
                <a:solidFill>
                  <a:srgbClr val="004AAD"/>
                </a:solidFill>
                <a:latin typeface="Arial"/>
                <a:ea typeface="Arial"/>
                <a:cs typeface="Arial"/>
                <a:sym typeface="Arial"/>
              </a:rPr>
              <a:t>A rosca da porca acme era a única interface de fixação: sua falha comprometeu toda a integridade estrutural da cauda.</a:t>
            </a:r>
          </a:p>
          <a:p>
            <a:pPr algn="l">
              <a:lnSpc>
                <a:spcPts val="4737"/>
              </a:lnSpc>
            </a:pPr>
            <a:r>
              <a:rPr lang="en-US" sz="3384">
                <a:solidFill>
                  <a:srgbClr val="004AAD"/>
                </a:solidFill>
                <a:latin typeface="Arial"/>
                <a:ea typeface="Arial"/>
                <a:cs typeface="Arial"/>
                <a:sym typeface="Arial"/>
              </a:rPr>
              <a:t>     </a:t>
            </a:r>
            <a:r>
              <a:rPr lang="en-US" sz="3384">
                <a:solidFill>
                  <a:srgbClr val="004AAD"/>
                </a:solidFill>
                <a:latin typeface="Arial"/>
                <a:ea typeface="Arial"/>
                <a:cs typeface="Arial"/>
                <a:sym typeface="Arial"/>
              </a:rPr>
              <a:t>A porca foi projetada como componente de desgaste, mas sem dispositivo de contenção para o caso de perda total.</a:t>
            </a:r>
          </a:p>
          <a:p>
            <a:pPr algn="l">
              <a:lnSpc>
                <a:spcPts val="4737"/>
              </a:lnSpc>
            </a:pPr>
            <a:r>
              <a:rPr lang="en-US" sz="3384">
                <a:solidFill>
                  <a:srgbClr val="004AAD"/>
                </a:solidFill>
                <a:latin typeface="Arial"/>
                <a:ea typeface="Arial"/>
                <a:cs typeface="Arial"/>
                <a:sym typeface="Arial"/>
              </a:rPr>
              <a:t>     A análise estrutural não considerou cenários de desgaste extremo, falha de graxa ou contaminação.</a:t>
            </a:r>
          </a:p>
          <a:p>
            <a:pPr algn="l">
              <a:lnSpc>
                <a:spcPts val="4737"/>
              </a:lnSpc>
            </a:pPr>
            <a:r>
              <a:rPr lang="en-US" sz="3384">
                <a:solidFill>
                  <a:srgbClr val="004AAD"/>
                </a:solidFill>
                <a:latin typeface="Arial"/>
                <a:ea typeface="Arial"/>
                <a:cs typeface="Arial"/>
                <a:sym typeface="Arial"/>
              </a:rPr>
              <a:t>     Assim, o sistema atendia formalmente ao RBAC 25.395 (com roscas intactas), mas não cumpria o espírito do RBAC 25.1309 (falha única não pode ser catastrófica).</a:t>
            </a:r>
          </a:p>
          <a:p>
            <a:pPr algn="l">
              <a:lnSpc>
                <a:spcPts val="5437"/>
              </a:lnSpc>
            </a:pPr>
          </a:p>
          <a:p>
            <a:pPr algn="l">
              <a:lnSpc>
                <a:spcPts val="5437"/>
              </a:lnSpc>
              <a:spcBef>
                <a:spcPct val="0"/>
              </a:spcBef>
            </a:pPr>
          </a:p>
        </p:txBody>
      </p:sp>
    </p:spTree>
  </p:cSld>
  <p:clrMapOvr>
    <a:masterClrMapping/>
  </p:clrMapOvr>
  <p:transition spd="fast">
    <p:fade/>
  </p:transition>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06417" y="188020"/>
            <a:ext cx="2106584" cy="621841"/>
            <a:chOff x="0" y="0"/>
            <a:chExt cx="2808778" cy="829121"/>
          </a:xfrm>
        </p:grpSpPr>
        <p:sp>
          <p:nvSpPr>
            <p:cNvPr name="Freeform 3" id="3"/>
            <p:cNvSpPr/>
            <p:nvPr/>
          </p:nvSpPr>
          <p:spPr>
            <a:xfrm flipH="false" flipV="false" rot="0">
              <a:off x="0" y="0"/>
              <a:ext cx="2808778" cy="829121"/>
            </a:xfrm>
            <a:custGeom>
              <a:avLst/>
              <a:gdLst/>
              <a:ahLst/>
              <a:cxnLst/>
              <a:rect r="r" b="b" t="t" l="l"/>
              <a:pathLst>
                <a:path h="829121" w="2808778">
                  <a:moveTo>
                    <a:pt x="0" y="0"/>
                  </a:moveTo>
                  <a:lnTo>
                    <a:pt x="2808778" y="0"/>
                  </a:lnTo>
                  <a:lnTo>
                    <a:pt x="2808778" y="829121"/>
                  </a:lnTo>
                  <a:lnTo>
                    <a:pt x="0" y="829121"/>
                  </a:lnTo>
                  <a:close/>
                </a:path>
              </a:pathLst>
            </a:custGeom>
            <a:solidFill>
              <a:srgbClr val="000000">
                <a:alpha val="0"/>
              </a:srgbClr>
            </a:solidFill>
          </p:spPr>
        </p:sp>
        <p:sp>
          <p:nvSpPr>
            <p:cNvPr name="TextBox 4" id="4"/>
            <p:cNvSpPr txBox="true"/>
            <p:nvPr/>
          </p:nvSpPr>
          <p:spPr>
            <a:xfrm>
              <a:off x="0" y="-19050"/>
              <a:ext cx="2808778" cy="848171"/>
            </a:xfrm>
            <a:prstGeom prst="rect">
              <a:avLst/>
            </a:prstGeom>
          </p:spPr>
          <p:txBody>
            <a:bodyPr anchor="ctr" rtlCol="false" tIns="0" lIns="0" bIns="0" rIns="0"/>
            <a:lstStyle/>
            <a:p>
              <a:pPr algn="l">
                <a:lnSpc>
                  <a:spcPts val="3600"/>
                </a:lnSpc>
              </a:pPr>
              <a:r>
                <a:rPr lang="en-US" b="true" sz="3000">
                  <a:solidFill>
                    <a:srgbClr val="0070C0"/>
                  </a:solidFill>
                  <a:latin typeface="Arial Bold"/>
                  <a:ea typeface="Arial Bold"/>
                  <a:cs typeface="Arial Bold"/>
                  <a:sym typeface="Arial Bold"/>
                </a:rPr>
                <a:t>Capítulo 8</a:t>
              </a:r>
            </a:p>
          </p:txBody>
        </p:sp>
      </p:grpSp>
      <p:sp>
        <p:nvSpPr>
          <p:cNvPr name="TextBox 5" id="5"/>
          <p:cNvSpPr txBox="true"/>
          <p:nvPr/>
        </p:nvSpPr>
        <p:spPr>
          <a:xfrm rot="0">
            <a:off x="397857" y="883363"/>
            <a:ext cx="15134475" cy="952500"/>
          </a:xfrm>
          <a:prstGeom prst="rect">
            <a:avLst/>
          </a:prstGeom>
        </p:spPr>
        <p:txBody>
          <a:bodyPr anchor="t" rtlCol="false" tIns="0" lIns="0" bIns="0" rIns="0">
            <a:spAutoFit/>
          </a:bodyPr>
          <a:lstStyle/>
          <a:p>
            <a:pPr algn="l">
              <a:lnSpc>
                <a:spcPts val="2520"/>
              </a:lnSpc>
            </a:pPr>
            <a:r>
              <a:rPr lang="en-US" sz="2100" u="sng">
                <a:solidFill>
                  <a:srgbClr val="0070C0"/>
                </a:solidFill>
                <a:latin typeface="Arial"/>
                <a:ea typeface="Arial"/>
                <a:cs typeface="Arial"/>
                <a:sym typeface="Arial"/>
              </a:rPr>
              <a:t>Slide 8.4 Análise Zonal da região da instalação do Sistema de Compensação do Estabilizador Horizontal, em especial considere aspectos de acessibilidade e densidade da área da Instalação</a:t>
            </a:r>
          </a:p>
          <a:p>
            <a:pPr algn="l">
              <a:lnSpc>
                <a:spcPts val="2520"/>
              </a:lnSpc>
            </a:pPr>
          </a:p>
        </p:txBody>
      </p:sp>
      <p:sp>
        <p:nvSpPr>
          <p:cNvPr name="TextBox 6" id="6"/>
          <p:cNvSpPr txBox="true"/>
          <p:nvPr/>
        </p:nvSpPr>
        <p:spPr>
          <a:xfrm rot="0">
            <a:off x="15400000" y="45720"/>
            <a:ext cx="2705338" cy="1228725"/>
          </a:xfrm>
          <a:prstGeom prst="rect">
            <a:avLst/>
          </a:prstGeom>
        </p:spPr>
        <p:txBody>
          <a:bodyPr anchor="t" rtlCol="false" tIns="0" lIns="0" bIns="0" rIns="0">
            <a:spAutoFit/>
          </a:bodyPr>
          <a:lstStyle/>
          <a:p>
            <a:pPr algn="ctr">
              <a:lnSpc>
                <a:spcPts val="3240"/>
              </a:lnSpc>
            </a:pPr>
            <a:r>
              <a:rPr lang="en-US" sz="2700" u="sng">
                <a:solidFill>
                  <a:srgbClr val="0070C0"/>
                </a:solidFill>
                <a:latin typeface="Aptos"/>
                <a:ea typeface="Aptos"/>
                <a:cs typeface="Aptos"/>
                <a:sym typeface="Aptos"/>
              </a:rPr>
              <a:t>Resp.: </a:t>
            </a:r>
          </a:p>
          <a:p>
            <a:pPr algn="ctr">
              <a:lnSpc>
                <a:spcPts val="3240"/>
              </a:lnSpc>
            </a:pPr>
            <a:r>
              <a:rPr lang="en-US" sz="2700" u="sng">
                <a:solidFill>
                  <a:srgbClr val="0070C0"/>
                </a:solidFill>
                <a:latin typeface="Aptos"/>
                <a:ea typeface="Aptos"/>
                <a:cs typeface="Aptos"/>
                <a:sym typeface="Aptos"/>
              </a:rPr>
              <a:t>Cristiano Teixeira</a:t>
            </a:r>
          </a:p>
          <a:p>
            <a:pPr algn="ctr">
              <a:lnSpc>
                <a:spcPts val="3240"/>
              </a:lnSpc>
            </a:pPr>
          </a:p>
        </p:txBody>
      </p:sp>
      <p:sp>
        <p:nvSpPr>
          <p:cNvPr name="TextBox 7" id="7"/>
          <p:cNvSpPr txBox="true"/>
          <p:nvPr/>
        </p:nvSpPr>
        <p:spPr>
          <a:xfrm rot="0">
            <a:off x="2413000" y="36195"/>
            <a:ext cx="12821270" cy="952500"/>
          </a:xfrm>
          <a:prstGeom prst="rect">
            <a:avLst/>
          </a:prstGeom>
        </p:spPr>
        <p:txBody>
          <a:bodyPr anchor="t" rtlCol="false" tIns="0" lIns="0" bIns="0" rIns="0">
            <a:spAutoFit/>
          </a:bodyPr>
          <a:lstStyle/>
          <a:p>
            <a:pPr algn="l">
              <a:lnSpc>
                <a:spcPts val="2520"/>
              </a:lnSpc>
            </a:pPr>
            <a:r>
              <a:rPr lang="en-US" b="true" sz="2100">
                <a:solidFill>
                  <a:srgbClr val="0070C0"/>
                </a:solidFill>
                <a:latin typeface="Arial Bold"/>
                <a:ea typeface="Arial Bold"/>
                <a:cs typeface="Arial Bold"/>
                <a:sym typeface="Arial Bold"/>
              </a:rPr>
              <a:t>MSG3:</a:t>
            </a:r>
            <a:r>
              <a:rPr lang="en-US" sz="2100">
                <a:solidFill>
                  <a:srgbClr val="0070C0"/>
                </a:solidFill>
                <a:latin typeface="Arial"/>
                <a:ea typeface="Arial"/>
                <a:cs typeface="Arial"/>
                <a:sym typeface="Arial"/>
              </a:rPr>
              <a:t> Desenvo</a:t>
            </a:r>
            <a:r>
              <a:rPr lang="en-US" sz="2100">
                <a:solidFill>
                  <a:srgbClr val="0070C0"/>
                </a:solidFill>
                <a:latin typeface="Arial"/>
                <a:ea typeface="Arial"/>
                <a:cs typeface="Arial"/>
                <a:sym typeface="Arial"/>
              </a:rPr>
              <a:t>lva análises de Sistemas, de Estruturas e Zonal do Sistema de Compensação do Estabilizador Horizontal considerando os seguintes aspectos:</a:t>
            </a:r>
          </a:p>
          <a:p>
            <a:pPr algn="l">
              <a:lnSpc>
                <a:spcPts val="2520"/>
              </a:lnSpc>
            </a:pPr>
          </a:p>
        </p:txBody>
      </p:sp>
      <p:sp>
        <p:nvSpPr>
          <p:cNvPr name="TextBox 8" id="8"/>
          <p:cNvSpPr txBox="true"/>
          <p:nvPr/>
        </p:nvSpPr>
        <p:spPr>
          <a:xfrm rot="0">
            <a:off x="497508" y="2073710"/>
            <a:ext cx="14265837" cy="7044454"/>
          </a:xfrm>
          <a:prstGeom prst="rect">
            <a:avLst/>
          </a:prstGeom>
        </p:spPr>
        <p:txBody>
          <a:bodyPr anchor="t" rtlCol="false" tIns="0" lIns="0" bIns="0" rIns="0">
            <a:spAutoFit/>
          </a:bodyPr>
          <a:lstStyle/>
          <a:p>
            <a:pPr algn="l">
              <a:lnSpc>
                <a:spcPts val="3898"/>
              </a:lnSpc>
            </a:pPr>
            <a:r>
              <a:rPr lang="en-US" sz="2784">
                <a:solidFill>
                  <a:srgbClr val="004AAD"/>
                </a:solidFill>
                <a:latin typeface="Arial"/>
                <a:ea typeface="Arial"/>
                <a:cs typeface="Arial"/>
                <a:sym typeface="Arial"/>
              </a:rPr>
              <a:t>     </a:t>
            </a:r>
            <a:r>
              <a:rPr lang="en-US" sz="2784">
                <a:solidFill>
                  <a:srgbClr val="004AAD"/>
                </a:solidFill>
                <a:latin typeface="Arial"/>
                <a:ea typeface="Arial"/>
                <a:cs typeface="Arial"/>
                <a:sym typeface="Arial"/>
              </a:rPr>
              <a:t>O jackscrew está localizado na cauda do MD-83, numa área de difícil acesso.</a:t>
            </a:r>
          </a:p>
          <a:p>
            <a:pPr algn="l">
              <a:lnSpc>
                <a:spcPts val="3898"/>
              </a:lnSpc>
            </a:pPr>
            <a:r>
              <a:rPr lang="en-US" sz="2784">
                <a:solidFill>
                  <a:srgbClr val="004AAD"/>
                </a:solidFill>
                <a:latin typeface="Arial"/>
                <a:ea typeface="Arial"/>
                <a:cs typeface="Arial"/>
                <a:sym typeface="Arial"/>
              </a:rPr>
              <a:t>    </a:t>
            </a:r>
          </a:p>
          <a:p>
            <a:pPr algn="l">
              <a:lnSpc>
                <a:spcPts val="3898"/>
              </a:lnSpc>
            </a:pPr>
            <a:r>
              <a:rPr lang="en-US" sz="2784">
                <a:solidFill>
                  <a:srgbClr val="004AAD"/>
                </a:solidFill>
                <a:latin typeface="Arial"/>
                <a:ea typeface="Arial"/>
                <a:cs typeface="Arial"/>
                <a:sym typeface="Arial"/>
              </a:rPr>
              <a:t>      </a:t>
            </a:r>
            <a:r>
              <a:rPr lang="en-US" b="true" sz="2784">
                <a:solidFill>
                  <a:srgbClr val="004AAD"/>
                </a:solidFill>
                <a:latin typeface="Arial Bold"/>
                <a:ea typeface="Arial Bold"/>
                <a:cs typeface="Arial Bold"/>
                <a:sym typeface="Arial Bold"/>
              </a:rPr>
              <a:t>Problemas críticos da instalação:</a:t>
            </a:r>
          </a:p>
          <a:p>
            <a:pPr algn="l" marL="1202258" indent="-400753" lvl="2">
              <a:lnSpc>
                <a:spcPts val="3898"/>
              </a:lnSpc>
              <a:spcBef>
                <a:spcPct val="0"/>
              </a:spcBef>
              <a:buFont typeface="Arial"/>
              <a:buChar char="⚬"/>
            </a:pPr>
            <a:r>
              <a:rPr lang="en-US" sz="2784">
                <a:solidFill>
                  <a:srgbClr val="004AAD"/>
                </a:solidFill>
                <a:latin typeface="Arial"/>
                <a:ea typeface="Arial"/>
                <a:cs typeface="Arial"/>
                <a:sym typeface="Arial"/>
              </a:rPr>
              <a:t>Mecânicos tinham acesso restrito, o que dificultava lubrificação adequada;</a:t>
            </a:r>
          </a:p>
          <a:p>
            <a:pPr algn="l" marL="1202258" indent="-400753" lvl="2">
              <a:lnSpc>
                <a:spcPts val="3898"/>
              </a:lnSpc>
              <a:spcBef>
                <a:spcPct val="0"/>
              </a:spcBef>
              <a:buFont typeface="Arial"/>
              <a:buChar char="⚬"/>
            </a:pPr>
            <a:r>
              <a:rPr lang="en-US" sz="2784">
                <a:solidFill>
                  <a:srgbClr val="004AAD"/>
                </a:solidFill>
                <a:latin typeface="Arial"/>
                <a:ea typeface="Arial"/>
                <a:cs typeface="Arial"/>
                <a:sym typeface="Arial"/>
              </a:rPr>
              <a:t>A graxa muitas vezes não chegava às roscas internas, mas não havia verificação obrigatória;</a:t>
            </a:r>
          </a:p>
          <a:p>
            <a:pPr algn="l" marL="1202258" indent="-400753" lvl="2">
              <a:lnSpc>
                <a:spcPts val="3898"/>
              </a:lnSpc>
              <a:spcBef>
                <a:spcPct val="0"/>
              </a:spcBef>
              <a:buFont typeface="Arial"/>
              <a:buChar char="⚬"/>
            </a:pPr>
            <a:r>
              <a:rPr lang="en-US" sz="2784">
                <a:solidFill>
                  <a:srgbClr val="004AAD"/>
                </a:solidFill>
                <a:latin typeface="Arial"/>
                <a:ea typeface="Arial"/>
                <a:cs typeface="Arial"/>
                <a:sym typeface="Arial"/>
              </a:rPr>
              <a:t>A região sofre com vibrações, mudanças de temperatura e contaminação ambiental, acelerando o desgaste;</a:t>
            </a:r>
          </a:p>
          <a:p>
            <a:pPr algn="l" marL="1202258" indent="-400753" lvl="2">
              <a:lnSpc>
                <a:spcPts val="3898"/>
              </a:lnSpc>
              <a:spcBef>
                <a:spcPct val="0"/>
              </a:spcBef>
              <a:buFont typeface="Arial"/>
              <a:buChar char="⚬"/>
            </a:pPr>
            <a:r>
              <a:rPr lang="en-US" sz="2784">
                <a:solidFill>
                  <a:srgbClr val="004AAD"/>
                </a:solidFill>
                <a:latin typeface="Arial"/>
                <a:ea typeface="Arial"/>
                <a:cs typeface="Arial"/>
                <a:sym typeface="Arial"/>
              </a:rPr>
              <a:t>Alta densidade de sistemas (cabos, motores, guias) dificultava inspeção visual e reduzia chances de identificar desgaste anormal.</a:t>
            </a:r>
          </a:p>
          <a:p>
            <a:pPr algn="l">
              <a:lnSpc>
                <a:spcPts val="3898"/>
              </a:lnSpc>
              <a:spcBef>
                <a:spcPct val="0"/>
              </a:spcBef>
            </a:pPr>
            <a:r>
              <a:rPr lang="en-US" sz="2784">
                <a:solidFill>
                  <a:srgbClr val="004AAD"/>
                </a:solidFill>
                <a:latin typeface="Arial"/>
                <a:ea typeface="Arial"/>
                <a:cs typeface="Arial"/>
                <a:sym typeface="Arial"/>
              </a:rPr>
              <a:t>     </a:t>
            </a:r>
          </a:p>
          <a:p>
            <a:pPr algn="l">
              <a:lnSpc>
                <a:spcPts val="3898"/>
              </a:lnSpc>
            </a:pPr>
            <a:r>
              <a:rPr lang="en-US" sz="2784">
                <a:solidFill>
                  <a:srgbClr val="004AAD"/>
                </a:solidFill>
                <a:latin typeface="Arial"/>
                <a:ea typeface="Arial"/>
                <a:cs typeface="Arial"/>
                <a:sym typeface="Arial"/>
              </a:rPr>
              <a:t>      </a:t>
            </a:r>
            <a:r>
              <a:rPr lang="en-US" sz="2784">
                <a:solidFill>
                  <a:srgbClr val="004AAD"/>
                </a:solidFill>
                <a:latin typeface="Arial"/>
                <a:ea typeface="Arial"/>
                <a:cs typeface="Arial"/>
                <a:sym typeface="Arial"/>
              </a:rPr>
              <a:t>A análise zonal deveria ter levado a tarefas adicionais, como inspeções mais curtas ou exigência de verificações metrológicas. Isso não foi implementado.</a:t>
            </a:r>
          </a:p>
          <a:p>
            <a:pPr algn="l">
              <a:lnSpc>
                <a:spcPts val="5997"/>
              </a:lnSpc>
            </a:pP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06417" y="188020"/>
            <a:ext cx="2106584" cy="621841"/>
            <a:chOff x="0" y="0"/>
            <a:chExt cx="2808778" cy="829121"/>
          </a:xfrm>
        </p:grpSpPr>
        <p:sp>
          <p:nvSpPr>
            <p:cNvPr name="Freeform 3" id="3"/>
            <p:cNvSpPr/>
            <p:nvPr/>
          </p:nvSpPr>
          <p:spPr>
            <a:xfrm flipH="false" flipV="false" rot="0">
              <a:off x="0" y="0"/>
              <a:ext cx="2808778" cy="829121"/>
            </a:xfrm>
            <a:custGeom>
              <a:avLst/>
              <a:gdLst/>
              <a:ahLst/>
              <a:cxnLst/>
              <a:rect r="r" b="b" t="t" l="l"/>
              <a:pathLst>
                <a:path h="829121" w="2808778">
                  <a:moveTo>
                    <a:pt x="0" y="0"/>
                  </a:moveTo>
                  <a:lnTo>
                    <a:pt x="2808778" y="0"/>
                  </a:lnTo>
                  <a:lnTo>
                    <a:pt x="2808778" y="829121"/>
                  </a:lnTo>
                  <a:lnTo>
                    <a:pt x="0" y="829121"/>
                  </a:lnTo>
                  <a:close/>
                </a:path>
              </a:pathLst>
            </a:custGeom>
            <a:solidFill>
              <a:srgbClr val="000000">
                <a:alpha val="0"/>
              </a:srgbClr>
            </a:solidFill>
          </p:spPr>
        </p:sp>
        <p:sp>
          <p:nvSpPr>
            <p:cNvPr name="TextBox 4" id="4"/>
            <p:cNvSpPr txBox="true"/>
            <p:nvPr/>
          </p:nvSpPr>
          <p:spPr>
            <a:xfrm>
              <a:off x="0" y="-19050"/>
              <a:ext cx="2808778" cy="848171"/>
            </a:xfrm>
            <a:prstGeom prst="rect">
              <a:avLst/>
            </a:prstGeom>
          </p:spPr>
          <p:txBody>
            <a:bodyPr anchor="ctr" rtlCol="false" tIns="0" lIns="0" bIns="0" rIns="0"/>
            <a:lstStyle/>
            <a:p>
              <a:pPr algn="l">
                <a:lnSpc>
                  <a:spcPts val="3600"/>
                </a:lnSpc>
              </a:pPr>
              <a:r>
                <a:rPr lang="en-US" b="true" sz="3000">
                  <a:solidFill>
                    <a:srgbClr val="0070C0"/>
                  </a:solidFill>
                  <a:latin typeface="Arial Bold"/>
                  <a:ea typeface="Arial Bold"/>
                  <a:cs typeface="Arial Bold"/>
                  <a:sym typeface="Arial Bold"/>
                </a:rPr>
                <a:t>Capítulo 8</a:t>
              </a:r>
            </a:p>
          </p:txBody>
        </p:sp>
      </p:grpSp>
      <p:sp>
        <p:nvSpPr>
          <p:cNvPr name="TextBox 5" id="5"/>
          <p:cNvSpPr txBox="true"/>
          <p:nvPr/>
        </p:nvSpPr>
        <p:spPr>
          <a:xfrm rot="0">
            <a:off x="397857" y="883363"/>
            <a:ext cx="6280595" cy="323850"/>
          </a:xfrm>
          <a:prstGeom prst="rect">
            <a:avLst/>
          </a:prstGeom>
        </p:spPr>
        <p:txBody>
          <a:bodyPr anchor="t" rtlCol="false" tIns="0" lIns="0" bIns="0" rIns="0">
            <a:spAutoFit/>
          </a:bodyPr>
          <a:lstStyle/>
          <a:p>
            <a:pPr algn="l">
              <a:lnSpc>
                <a:spcPts val="2520"/>
              </a:lnSpc>
            </a:pPr>
            <a:r>
              <a:rPr lang="en-US" sz="2100" u="sng">
                <a:solidFill>
                  <a:srgbClr val="0070C0"/>
                </a:solidFill>
                <a:latin typeface="Arial"/>
                <a:ea typeface="Arial"/>
                <a:cs typeface="Arial"/>
                <a:sym typeface="Arial"/>
              </a:rPr>
              <a:t>8.5 Determinação de Intervalos de Tarefas</a:t>
            </a:r>
          </a:p>
        </p:txBody>
      </p:sp>
      <p:sp>
        <p:nvSpPr>
          <p:cNvPr name="TextBox 6" id="6"/>
          <p:cNvSpPr txBox="true"/>
          <p:nvPr/>
        </p:nvSpPr>
        <p:spPr>
          <a:xfrm rot="0">
            <a:off x="15638864" y="45720"/>
            <a:ext cx="2466474" cy="819150"/>
          </a:xfrm>
          <a:prstGeom prst="rect">
            <a:avLst/>
          </a:prstGeom>
        </p:spPr>
        <p:txBody>
          <a:bodyPr anchor="t" rtlCol="false" tIns="0" lIns="0" bIns="0" rIns="0">
            <a:spAutoFit/>
          </a:bodyPr>
          <a:lstStyle/>
          <a:p>
            <a:pPr algn="ctr">
              <a:lnSpc>
                <a:spcPts val="3240"/>
              </a:lnSpc>
            </a:pPr>
            <a:r>
              <a:rPr lang="en-US" sz="2700" u="sng">
                <a:solidFill>
                  <a:srgbClr val="0070C0"/>
                </a:solidFill>
                <a:latin typeface="Aptos"/>
                <a:ea typeface="Aptos"/>
                <a:cs typeface="Aptos"/>
                <a:sym typeface="Aptos"/>
              </a:rPr>
              <a:t>Resp.: </a:t>
            </a:r>
          </a:p>
          <a:p>
            <a:pPr algn="ctr">
              <a:lnSpc>
                <a:spcPts val="3240"/>
              </a:lnSpc>
            </a:pPr>
            <a:r>
              <a:rPr lang="en-US" sz="2700" u="sng">
                <a:solidFill>
                  <a:srgbClr val="0070C0"/>
                </a:solidFill>
                <a:latin typeface="Aptos"/>
                <a:ea typeface="Aptos"/>
                <a:cs typeface="Aptos"/>
                <a:sym typeface="Aptos"/>
              </a:rPr>
              <a:t>José Augusto</a:t>
            </a:r>
          </a:p>
        </p:txBody>
      </p:sp>
      <p:sp>
        <p:nvSpPr>
          <p:cNvPr name="TextBox 7" id="7"/>
          <p:cNvSpPr txBox="true"/>
          <p:nvPr/>
        </p:nvSpPr>
        <p:spPr>
          <a:xfrm rot="0">
            <a:off x="2504440" y="8598"/>
            <a:ext cx="12821270" cy="952500"/>
          </a:xfrm>
          <a:prstGeom prst="rect">
            <a:avLst/>
          </a:prstGeom>
        </p:spPr>
        <p:txBody>
          <a:bodyPr anchor="t" rtlCol="false" tIns="0" lIns="0" bIns="0" rIns="0">
            <a:spAutoFit/>
          </a:bodyPr>
          <a:lstStyle/>
          <a:p>
            <a:pPr algn="l">
              <a:lnSpc>
                <a:spcPts val="2520"/>
              </a:lnSpc>
            </a:pPr>
            <a:r>
              <a:rPr lang="en-US" b="true" sz="2100">
                <a:solidFill>
                  <a:srgbClr val="0070C0"/>
                </a:solidFill>
                <a:latin typeface="Arial Bold"/>
                <a:ea typeface="Arial Bold"/>
                <a:cs typeface="Arial Bold"/>
                <a:sym typeface="Arial Bold"/>
              </a:rPr>
              <a:t>MSG3: </a:t>
            </a:r>
            <a:r>
              <a:rPr lang="en-US" sz="2100">
                <a:solidFill>
                  <a:srgbClr val="0070C0"/>
                </a:solidFill>
                <a:latin typeface="Arial"/>
                <a:ea typeface="Arial"/>
                <a:cs typeface="Arial"/>
                <a:sym typeface="Arial"/>
              </a:rPr>
              <a:t>Desenvo</a:t>
            </a:r>
            <a:r>
              <a:rPr lang="en-US" sz="2100">
                <a:solidFill>
                  <a:srgbClr val="0070C0"/>
                </a:solidFill>
                <a:latin typeface="Arial"/>
                <a:ea typeface="Arial"/>
                <a:cs typeface="Arial"/>
                <a:sym typeface="Arial"/>
              </a:rPr>
              <a:t>lva análises de Sistemas, de Estruturas e Zonal do Sistema de Compensação do Estabilizador Horizontal considerando os seguintes aspectos:</a:t>
            </a:r>
          </a:p>
          <a:p>
            <a:pPr algn="l">
              <a:lnSpc>
                <a:spcPts val="2520"/>
              </a:lnSpc>
            </a:pPr>
          </a:p>
        </p:txBody>
      </p:sp>
      <p:sp>
        <p:nvSpPr>
          <p:cNvPr name="TextBox 8" id="8"/>
          <p:cNvSpPr txBox="true"/>
          <p:nvPr/>
        </p:nvSpPr>
        <p:spPr>
          <a:xfrm rot="0">
            <a:off x="1153990" y="2190455"/>
            <a:ext cx="14998137" cy="6391275"/>
          </a:xfrm>
          <a:prstGeom prst="rect">
            <a:avLst/>
          </a:prstGeom>
        </p:spPr>
        <p:txBody>
          <a:bodyPr anchor="t" rtlCol="false" tIns="0" lIns="0" bIns="0" rIns="0">
            <a:spAutoFit/>
          </a:bodyPr>
          <a:lstStyle/>
          <a:p>
            <a:pPr algn="just">
              <a:lnSpc>
                <a:spcPts val="3839"/>
              </a:lnSpc>
            </a:pPr>
            <a:r>
              <a:rPr lang="en-US" sz="3199">
                <a:solidFill>
                  <a:srgbClr val="0070C0"/>
                </a:solidFill>
                <a:latin typeface="Aptos"/>
                <a:ea typeface="Aptos"/>
                <a:cs typeface="Aptos"/>
                <a:sym typeface="Aptos"/>
              </a:rPr>
              <a:t>     </a:t>
            </a:r>
            <a:r>
              <a:rPr lang="en-US" sz="3199" b="true">
                <a:solidFill>
                  <a:srgbClr val="0070C0"/>
                </a:solidFill>
                <a:latin typeface="Aptos Bold"/>
                <a:ea typeface="Aptos Bold"/>
                <a:cs typeface="Aptos Bold"/>
                <a:sym typeface="Aptos Bold"/>
              </a:rPr>
              <a:t>Linha do tempo dos intervalos:</a:t>
            </a:r>
          </a:p>
          <a:p>
            <a:pPr algn="just">
              <a:lnSpc>
                <a:spcPts val="3839"/>
              </a:lnSpc>
            </a:pPr>
          </a:p>
          <a:p>
            <a:pPr algn="just" marL="690877" indent="-345439" lvl="1">
              <a:lnSpc>
                <a:spcPts val="3839"/>
              </a:lnSpc>
              <a:buFont typeface="Arial"/>
              <a:buChar char="•"/>
            </a:pPr>
            <a:r>
              <a:rPr lang="en-US" b="true" sz="3199" i="true">
                <a:solidFill>
                  <a:srgbClr val="0070C0"/>
                </a:solidFill>
                <a:latin typeface="Aptos Bold Italics"/>
                <a:ea typeface="Aptos Bold Italics"/>
                <a:cs typeface="Aptos Bold Italics"/>
                <a:sym typeface="Aptos Bold Italics"/>
              </a:rPr>
              <a:t>DC-9 (1966):</a:t>
            </a:r>
            <a:r>
              <a:rPr lang="en-US" sz="3199">
                <a:solidFill>
                  <a:srgbClr val="0070C0"/>
                </a:solidFill>
                <a:latin typeface="Aptos"/>
                <a:ea typeface="Aptos"/>
                <a:cs typeface="Aptos"/>
                <a:sym typeface="Aptos"/>
              </a:rPr>
              <a:t> 300–350 horas (após falhas iniciais);</a:t>
            </a:r>
          </a:p>
          <a:p>
            <a:pPr algn="just" marL="690877" indent="-345439" lvl="1">
              <a:lnSpc>
                <a:spcPts val="3839"/>
              </a:lnSpc>
              <a:buFont typeface="Arial"/>
              <a:buChar char="•"/>
            </a:pPr>
            <a:r>
              <a:rPr lang="en-US" b="true" sz="3199" i="true">
                <a:solidFill>
                  <a:srgbClr val="0070C0"/>
                </a:solidFill>
                <a:latin typeface="Aptos Bold Italics"/>
                <a:ea typeface="Aptos Bold Italics"/>
                <a:cs typeface="Aptos Bold Italics"/>
                <a:sym typeface="Aptos Bold Italics"/>
              </a:rPr>
              <a:t>Evolução posterior:</a:t>
            </a:r>
            <a:r>
              <a:rPr lang="en-US" b="true" sz="3199">
                <a:solidFill>
                  <a:srgbClr val="0070C0"/>
                </a:solidFill>
                <a:latin typeface="Aptos Bold"/>
                <a:ea typeface="Aptos Bold"/>
                <a:cs typeface="Aptos Bold"/>
                <a:sym typeface="Aptos Bold"/>
              </a:rPr>
              <a:t> </a:t>
            </a:r>
            <a:r>
              <a:rPr lang="en-US" sz="3199">
                <a:solidFill>
                  <a:srgbClr val="0070C0"/>
                </a:solidFill>
                <a:latin typeface="Aptos"/>
                <a:ea typeface="Aptos"/>
                <a:cs typeface="Aptos"/>
                <a:sym typeface="Aptos"/>
              </a:rPr>
              <a:t>600–900 horas;</a:t>
            </a:r>
          </a:p>
          <a:p>
            <a:pPr algn="just" marL="690877" indent="-345439" lvl="1">
              <a:lnSpc>
                <a:spcPts val="3839"/>
              </a:lnSpc>
              <a:buFont typeface="Arial"/>
              <a:buChar char="•"/>
            </a:pPr>
            <a:r>
              <a:rPr lang="en-US" b="true" sz="3199" i="true">
                <a:solidFill>
                  <a:srgbClr val="0070C0"/>
                </a:solidFill>
                <a:latin typeface="Aptos Bold Italics"/>
                <a:ea typeface="Aptos Bold Italics"/>
                <a:cs typeface="Aptos Bold Italics"/>
                <a:sym typeface="Aptos Bold Italics"/>
              </a:rPr>
              <a:t>Alaska Airlines (anos 1990):</a:t>
            </a:r>
            <a:r>
              <a:rPr lang="en-US" b="true" sz="3199">
                <a:solidFill>
                  <a:srgbClr val="0070C0"/>
                </a:solidFill>
                <a:latin typeface="Aptos Bold"/>
                <a:ea typeface="Aptos Bold"/>
                <a:cs typeface="Aptos Bold"/>
                <a:sym typeface="Aptos Bold"/>
              </a:rPr>
              <a:t> </a:t>
            </a:r>
            <a:r>
              <a:rPr lang="en-US" sz="3199">
                <a:solidFill>
                  <a:srgbClr val="0070C0"/>
                </a:solidFill>
                <a:latin typeface="Aptos"/>
                <a:ea typeface="Aptos"/>
                <a:cs typeface="Aptos"/>
                <a:sym typeface="Aptos"/>
              </a:rPr>
              <a:t>3.600 horas, aprovadas pela FAA.</a:t>
            </a:r>
          </a:p>
          <a:p>
            <a:pPr algn="just">
              <a:lnSpc>
                <a:spcPts val="3839"/>
              </a:lnSpc>
            </a:pPr>
            <a:r>
              <a:rPr lang="en-US" sz="3199">
                <a:solidFill>
                  <a:srgbClr val="0070C0"/>
                </a:solidFill>
                <a:latin typeface="Aptos"/>
                <a:ea typeface="Aptos"/>
                <a:cs typeface="Aptos"/>
                <a:sym typeface="Aptos"/>
              </a:rPr>
              <a:t>  </a:t>
            </a:r>
          </a:p>
          <a:p>
            <a:pPr algn="just">
              <a:lnSpc>
                <a:spcPts val="3839"/>
              </a:lnSpc>
            </a:pPr>
            <a:r>
              <a:rPr lang="en-US" sz="3199">
                <a:solidFill>
                  <a:srgbClr val="0070C0"/>
                </a:solidFill>
                <a:latin typeface="Aptos"/>
                <a:ea typeface="Aptos"/>
                <a:cs typeface="Aptos"/>
                <a:sym typeface="Aptos"/>
              </a:rPr>
              <a:t>   </a:t>
            </a:r>
            <a:r>
              <a:rPr lang="en-US" sz="3199">
                <a:solidFill>
                  <a:srgbClr val="0070C0"/>
                </a:solidFill>
                <a:latin typeface="Aptos"/>
                <a:ea typeface="Aptos"/>
                <a:cs typeface="Aptos"/>
                <a:sym typeface="Aptos"/>
              </a:rPr>
              <a:t>Estudos estatísticos (Poisson e Weibull) indicavam que a probabilidade de falha aumentava </a:t>
            </a:r>
            <a:r>
              <a:rPr lang="en-US" sz="3199">
                <a:solidFill>
                  <a:srgbClr val="0070C0"/>
                </a:solidFill>
                <a:latin typeface="Aptos"/>
                <a:ea typeface="Aptos"/>
                <a:cs typeface="Aptos"/>
                <a:sym typeface="Aptos"/>
              </a:rPr>
              <a:t>exponencialmente com o tempo sem manutenção.</a:t>
            </a:r>
          </a:p>
          <a:p>
            <a:pPr algn="just">
              <a:lnSpc>
                <a:spcPts val="3839"/>
              </a:lnSpc>
            </a:pPr>
            <a:r>
              <a:rPr lang="en-US" sz="3199">
                <a:solidFill>
                  <a:srgbClr val="0070C0"/>
                </a:solidFill>
                <a:latin typeface="Aptos"/>
                <a:ea typeface="Aptos"/>
                <a:cs typeface="Aptos"/>
                <a:sym typeface="Aptos"/>
              </a:rPr>
              <a:t>      A decisão de ampliar intervalos foi tomada por economia, sem base em dados de confiabilidade robustos.</a:t>
            </a:r>
          </a:p>
          <a:p>
            <a:pPr algn="just">
              <a:lnSpc>
                <a:spcPts val="3839"/>
              </a:lnSpc>
            </a:pPr>
            <a:r>
              <a:rPr lang="en-US" sz="3199">
                <a:solidFill>
                  <a:srgbClr val="0070C0"/>
                </a:solidFill>
                <a:latin typeface="Aptos"/>
                <a:ea typeface="Aptos"/>
                <a:cs typeface="Aptos"/>
                <a:sym typeface="Aptos"/>
              </a:rPr>
              <a:t>   Após o acidente, a FAA emitiu Airworthiness Directive reduzindo para 650h, reconhecendo que os intervalos longos eram inseguros.</a:t>
            </a:r>
          </a:p>
          <a:p>
            <a:pPr algn="just">
              <a:lnSpc>
                <a:spcPts val="4559"/>
              </a:lnSpc>
            </a:pP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06417" y="188020"/>
            <a:ext cx="2106584" cy="621841"/>
            <a:chOff x="0" y="0"/>
            <a:chExt cx="2808778" cy="829121"/>
          </a:xfrm>
        </p:grpSpPr>
        <p:sp>
          <p:nvSpPr>
            <p:cNvPr name="Freeform 3" id="3"/>
            <p:cNvSpPr/>
            <p:nvPr/>
          </p:nvSpPr>
          <p:spPr>
            <a:xfrm flipH="false" flipV="false" rot="0">
              <a:off x="0" y="0"/>
              <a:ext cx="2808778" cy="829121"/>
            </a:xfrm>
            <a:custGeom>
              <a:avLst/>
              <a:gdLst/>
              <a:ahLst/>
              <a:cxnLst/>
              <a:rect r="r" b="b" t="t" l="l"/>
              <a:pathLst>
                <a:path h="829121" w="2808778">
                  <a:moveTo>
                    <a:pt x="0" y="0"/>
                  </a:moveTo>
                  <a:lnTo>
                    <a:pt x="2808778" y="0"/>
                  </a:lnTo>
                  <a:lnTo>
                    <a:pt x="2808778" y="829121"/>
                  </a:lnTo>
                  <a:lnTo>
                    <a:pt x="0" y="829121"/>
                  </a:lnTo>
                  <a:close/>
                </a:path>
              </a:pathLst>
            </a:custGeom>
            <a:solidFill>
              <a:srgbClr val="000000">
                <a:alpha val="0"/>
              </a:srgbClr>
            </a:solidFill>
          </p:spPr>
        </p:sp>
        <p:sp>
          <p:nvSpPr>
            <p:cNvPr name="TextBox 4" id="4"/>
            <p:cNvSpPr txBox="true"/>
            <p:nvPr/>
          </p:nvSpPr>
          <p:spPr>
            <a:xfrm>
              <a:off x="0" y="-19050"/>
              <a:ext cx="2808778" cy="848171"/>
            </a:xfrm>
            <a:prstGeom prst="rect">
              <a:avLst/>
            </a:prstGeom>
          </p:spPr>
          <p:txBody>
            <a:bodyPr anchor="ctr" rtlCol="false" tIns="0" lIns="0" bIns="0" rIns="0"/>
            <a:lstStyle/>
            <a:p>
              <a:pPr algn="l">
                <a:lnSpc>
                  <a:spcPts val="3600"/>
                </a:lnSpc>
              </a:pPr>
              <a:r>
                <a:rPr lang="en-US" b="true" sz="3000">
                  <a:solidFill>
                    <a:srgbClr val="0070C0"/>
                  </a:solidFill>
                  <a:latin typeface="Arial Bold"/>
                  <a:ea typeface="Arial Bold"/>
                  <a:cs typeface="Arial Bold"/>
                  <a:sym typeface="Arial Bold"/>
                </a:rPr>
                <a:t>Capítulo 8</a:t>
              </a:r>
            </a:p>
          </p:txBody>
        </p:sp>
      </p:grpSp>
      <p:sp>
        <p:nvSpPr>
          <p:cNvPr name="TextBox 5" id="5"/>
          <p:cNvSpPr txBox="true"/>
          <p:nvPr/>
        </p:nvSpPr>
        <p:spPr>
          <a:xfrm rot="0">
            <a:off x="397857" y="883363"/>
            <a:ext cx="12936929" cy="323850"/>
          </a:xfrm>
          <a:prstGeom prst="rect">
            <a:avLst/>
          </a:prstGeom>
        </p:spPr>
        <p:txBody>
          <a:bodyPr anchor="t" rtlCol="false" tIns="0" lIns="0" bIns="0" rIns="0">
            <a:spAutoFit/>
          </a:bodyPr>
          <a:lstStyle/>
          <a:p>
            <a:pPr algn="l">
              <a:lnSpc>
                <a:spcPts val="2520"/>
              </a:lnSpc>
            </a:pPr>
            <a:r>
              <a:rPr lang="en-US" sz="2100" u="sng">
                <a:solidFill>
                  <a:srgbClr val="0070C0"/>
                </a:solidFill>
                <a:latin typeface="Arial"/>
                <a:ea typeface="Arial"/>
                <a:cs typeface="Arial"/>
                <a:sym typeface="Arial"/>
              </a:rPr>
              <a:t>8.6 Análise dos diferentes intervalos de tarefas praticados pela Alaska Airlines e sua aprovação pela FAA</a:t>
            </a:r>
          </a:p>
        </p:txBody>
      </p:sp>
      <p:sp>
        <p:nvSpPr>
          <p:cNvPr name="TextBox 6" id="6"/>
          <p:cNvSpPr txBox="true"/>
          <p:nvPr/>
        </p:nvSpPr>
        <p:spPr>
          <a:xfrm rot="0">
            <a:off x="15638864" y="45720"/>
            <a:ext cx="2466474" cy="1228725"/>
          </a:xfrm>
          <a:prstGeom prst="rect">
            <a:avLst/>
          </a:prstGeom>
        </p:spPr>
        <p:txBody>
          <a:bodyPr anchor="t" rtlCol="false" tIns="0" lIns="0" bIns="0" rIns="0">
            <a:spAutoFit/>
          </a:bodyPr>
          <a:lstStyle/>
          <a:p>
            <a:pPr algn="ctr">
              <a:lnSpc>
                <a:spcPts val="3240"/>
              </a:lnSpc>
            </a:pPr>
            <a:r>
              <a:rPr lang="en-US" sz="2700" u="sng">
                <a:solidFill>
                  <a:srgbClr val="0070C0"/>
                </a:solidFill>
                <a:latin typeface="Aptos"/>
                <a:ea typeface="Aptos"/>
                <a:cs typeface="Aptos"/>
                <a:sym typeface="Aptos"/>
              </a:rPr>
              <a:t>Resp.: </a:t>
            </a:r>
          </a:p>
          <a:p>
            <a:pPr algn="ctr">
              <a:lnSpc>
                <a:spcPts val="3240"/>
              </a:lnSpc>
            </a:pPr>
            <a:r>
              <a:rPr lang="en-US" sz="2700" u="sng">
                <a:solidFill>
                  <a:srgbClr val="0070C0"/>
                </a:solidFill>
                <a:latin typeface="Aptos"/>
                <a:ea typeface="Aptos"/>
                <a:cs typeface="Aptos"/>
                <a:sym typeface="Aptos"/>
              </a:rPr>
              <a:t>José Augusto</a:t>
            </a:r>
          </a:p>
          <a:p>
            <a:pPr algn="ctr">
              <a:lnSpc>
                <a:spcPts val="3240"/>
              </a:lnSpc>
            </a:pPr>
          </a:p>
        </p:txBody>
      </p:sp>
      <p:sp>
        <p:nvSpPr>
          <p:cNvPr name="TextBox 7" id="7"/>
          <p:cNvSpPr txBox="true"/>
          <p:nvPr/>
        </p:nvSpPr>
        <p:spPr>
          <a:xfrm rot="0">
            <a:off x="2504440" y="8598"/>
            <a:ext cx="12821270" cy="952500"/>
          </a:xfrm>
          <a:prstGeom prst="rect">
            <a:avLst/>
          </a:prstGeom>
        </p:spPr>
        <p:txBody>
          <a:bodyPr anchor="t" rtlCol="false" tIns="0" lIns="0" bIns="0" rIns="0">
            <a:spAutoFit/>
          </a:bodyPr>
          <a:lstStyle/>
          <a:p>
            <a:pPr algn="l">
              <a:lnSpc>
                <a:spcPts val="2520"/>
              </a:lnSpc>
            </a:pPr>
            <a:r>
              <a:rPr lang="en-US" b="true" sz="2100">
                <a:solidFill>
                  <a:srgbClr val="0070C0"/>
                </a:solidFill>
                <a:latin typeface="Arial Bold"/>
                <a:ea typeface="Arial Bold"/>
                <a:cs typeface="Arial Bold"/>
                <a:sym typeface="Arial Bold"/>
              </a:rPr>
              <a:t>MSG3: </a:t>
            </a:r>
            <a:r>
              <a:rPr lang="en-US" sz="2100">
                <a:solidFill>
                  <a:srgbClr val="0070C0"/>
                </a:solidFill>
                <a:latin typeface="Arial"/>
                <a:ea typeface="Arial"/>
                <a:cs typeface="Arial"/>
                <a:sym typeface="Arial"/>
              </a:rPr>
              <a:t>Desenvo</a:t>
            </a:r>
            <a:r>
              <a:rPr lang="en-US" sz="2100">
                <a:solidFill>
                  <a:srgbClr val="0070C0"/>
                </a:solidFill>
                <a:latin typeface="Arial"/>
                <a:ea typeface="Arial"/>
                <a:cs typeface="Arial"/>
                <a:sym typeface="Arial"/>
              </a:rPr>
              <a:t>lva análises de Sistemas, de Estruturas e Zonal do Sistema de Compensação do Estabilizador Horizontal considerando os seguintes aspectos:</a:t>
            </a:r>
          </a:p>
          <a:p>
            <a:pPr algn="l">
              <a:lnSpc>
                <a:spcPts val="2520"/>
              </a:lnSpc>
            </a:pPr>
          </a:p>
        </p:txBody>
      </p:sp>
      <p:sp>
        <p:nvSpPr>
          <p:cNvPr name="TextBox 8" id="8"/>
          <p:cNvSpPr txBox="true"/>
          <p:nvPr/>
        </p:nvSpPr>
        <p:spPr>
          <a:xfrm rot="0">
            <a:off x="1028700" y="2477091"/>
            <a:ext cx="14998137" cy="4448175"/>
          </a:xfrm>
          <a:prstGeom prst="rect">
            <a:avLst/>
          </a:prstGeom>
        </p:spPr>
        <p:txBody>
          <a:bodyPr anchor="t" rtlCol="false" tIns="0" lIns="0" bIns="0" rIns="0">
            <a:spAutoFit/>
          </a:bodyPr>
          <a:lstStyle/>
          <a:p>
            <a:pPr algn="just">
              <a:lnSpc>
                <a:spcPts val="3839"/>
              </a:lnSpc>
            </a:pPr>
            <a:r>
              <a:rPr lang="en-US" sz="3199">
                <a:solidFill>
                  <a:srgbClr val="0070C0"/>
                </a:solidFill>
                <a:latin typeface="Aptos"/>
                <a:ea typeface="Aptos"/>
                <a:cs typeface="Aptos"/>
                <a:sym typeface="Aptos"/>
              </a:rPr>
              <a:t>     A Alaska Airl</a:t>
            </a:r>
            <a:r>
              <a:rPr lang="en-US" sz="3199">
                <a:solidFill>
                  <a:srgbClr val="0070C0"/>
                </a:solidFill>
                <a:latin typeface="Aptos"/>
                <a:ea typeface="Aptos"/>
                <a:cs typeface="Aptos"/>
                <a:sym typeface="Aptos"/>
              </a:rPr>
              <a:t>in</a:t>
            </a:r>
            <a:r>
              <a:rPr lang="en-US" sz="3199">
                <a:solidFill>
                  <a:srgbClr val="0070C0"/>
                </a:solidFill>
                <a:latin typeface="Aptos"/>
                <a:ea typeface="Aptos"/>
                <a:cs typeface="Aptos"/>
                <a:sym typeface="Aptos"/>
              </a:rPr>
              <a:t>es</a:t>
            </a:r>
            <a:r>
              <a:rPr lang="en-US" sz="3199">
                <a:solidFill>
                  <a:srgbClr val="0070C0"/>
                </a:solidFill>
                <a:latin typeface="Aptos"/>
                <a:ea typeface="Aptos"/>
                <a:cs typeface="Aptos"/>
                <a:sym typeface="Aptos"/>
              </a:rPr>
              <a:t> </a:t>
            </a:r>
            <a:r>
              <a:rPr lang="en-US" sz="3199">
                <a:solidFill>
                  <a:srgbClr val="0070C0"/>
                </a:solidFill>
                <a:latin typeface="Aptos"/>
                <a:ea typeface="Aptos"/>
                <a:cs typeface="Aptos"/>
                <a:sym typeface="Aptos"/>
              </a:rPr>
              <a:t>busc</a:t>
            </a:r>
            <a:r>
              <a:rPr lang="en-US" sz="3199">
                <a:solidFill>
                  <a:srgbClr val="0070C0"/>
                </a:solidFill>
                <a:latin typeface="Aptos"/>
                <a:ea typeface="Aptos"/>
                <a:cs typeface="Aptos"/>
                <a:sym typeface="Aptos"/>
              </a:rPr>
              <a:t>o</a:t>
            </a:r>
            <a:r>
              <a:rPr lang="en-US" sz="3199">
                <a:solidFill>
                  <a:srgbClr val="0070C0"/>
                </a:solidFill>
                <a:latin typeface="Aptos"/>
                <a:ea typeface="Aptos"/>
                <a:cs typeface="Aptos"/>
                <a:sym typeface="Aptos"/>
              </a:rPr>
              <a:t>u</a:t>
            </a:r>
            <a:r>
              <a:rPr lang="en-US" sz="3199">
                <a:solidFill>
                  <a:srgbClr val="0070C0"/>
                </a:solidFill>
                <a:latin typeface="Aptos"/>
                <a:ea typeface="Aptos"/>
                <a:cs typeface="Aptos"/>
                <a:sym typeface="Aptos"/>
              </a:rPr>
              <a:t> </a:t>
            </a:r>
            <a:r>
              <a:rPr lang="en-US" sz="3199">
                <a:solidFill>
                  <a:srgbClr val="0070C0"/>
                </a:solidFill>
                <a:latin typeface="Aptos"/>
                <a:ea typeface="Aptos"/>
                <a:cs typeface="Aptos"/>
                <a:sym typeface="Aptos"/>
              </a:rPr>
              <a:t>es</a:t>
            </a:r>
            <a:r>
              <a:rPr lang="en-US" sz="3199">
                <a:solidFill>
                  <a:srgbClr val="0070C0"/>
                </a:solidFill>
                <a:latin typeface="Aptos"/>
                <a:ea typeface="Aptos"/>
                <a:cs typeface="Aptos"/>
                <a:sym typeface="Aptos"/>
              </a:rPr>
              <a:t>te</a:t>
            </a:r>
            <a:r>
              <a:rPr lang="en-US" sz="3199">
                <a:solidFill>
                  <a:srgbClr val="0070C0"/>
                </a:solidFill>
                <a:latin typeface="Aptos"/>
                <a:ea typeface="Aptos"/>
                <a:cs typeface="Aptos"/>
                <a:sym typeface="Aptos"/>
              </a:rPr>
              <a:t>n</a:t>
            </a:r>
            <a:r>
              <a:rPr lang="en-US" sz="3199">
                <a:solidFill>
                  <a:srgbClr val="0070C0"/>
                </a:solidFill>
                <a:latin typeface="Aptos"/>
                <a:ea typeface="Aptos"/>
                <a:cs typeface="Aptos"/>
                <a:sym typeface="Aptos"/>
              </a:rPr>
              <a:t>d</a:t>
            </a:r>
            <a:r>
              <a:rPr lang="en-US" sz="3199">
                <a:solidFill>
                  <a:srgbClr val="0070C0"/>
                </a:solidFill>
                <a:latin typeface="Aptos"/>
                <a:ea typeface="Aptos"/>
                <a:cs typeface="Aptos"/>
                <a:sym typeface="Aptos"/>
              </a:rPr>
              <a:t>er </a:t>
            </a:r>
            <a:r>
              <a:rPr lang="en-US" sz="3199">
                <a:solidFill>
                  <a:srgbClr val="0070C0"/>
                </a:solidFill>
                <a:latin typeface="Aptos"/>
                <a:ea typeface="Aptos"/>
                <a:cs typeface="Aptos"/>
                <a:sym typeface="Aptos"/>
              </a:rPr>
              <a:t>os intervalos</a:t>
            </a:r>
            <a:r>
              <a:rPr lang="en-US" sz="3199">
                <a:solidFill>
                  <a:srgbClr val="0070C0"/>
                </a:solidFill>
                <a:latin typeface="Aptos"/>
                <a:ea typeface="Aptos"/>
                <a:cs typeface="Aptos"/>
                <a:sym typeface="Aptos"/>
              </a:rPr>
              <a:t> </a:t>
            </a:r>
            <a:r>
              <a:rPr lang="en-US" sz="3199">
                <a:solidFill>
                  <a:srgbClr val="0070C0"/>
                </a:solidFill>
                <a:latin typeface="Aptos"/>
                <a:ea typeface="Aptos"/>
                <a:cs typeface="Aptos"/>
                <a:sym typeface="Aptos"/>
              </a:rPr>
              <a:t>como forma de reduzir c</a:t>
            </a:r>
            <a:r>
              <a:rPr lang="en-US" sz="3199">
                <a:solidFill>
                  <a:srgbClr val="0070C0"/>
                </a:solidFill>
                <a:latin typeface="Aptos"/>
                <a:ea typeface="Aptos"/>
                <a:cs typeface="Aptos"/>
                <a:sym typeface="Aptos"/>
              </a:rPr>
              <a:t>usto</a:t>
            </a:r>
            <a:r>
              <a:rPr lang="en-US" sz="3199">
                <a:solidFill>
                  <a:srgbClr val="0070C0"/>
                </a:solidFill>
                <a:latin typeface="Aptos"/>
                <a:ea typeface="Aptos"/>
                <a:cs typeface="Aptos"/>
                <a:sym typeface="Aptos"/>
              </a:rPr>
              <a:t>s</a:t>
            </a:r>
            <a:r>
              <a:rPr lang="en-US" sz="3199">
                <a:solidFill>
                  <a:srgbClr val="0070C0"/>
                </a:solidFill>
                <a:latin typeface="Aptos"/>
                <a:ea typeface="Aptos"/>
                <a:cs typeface="Aptos"/>
                <a:sym typeface="Aptos"/>
              </a:rPr>
              <a:t> </a:t>
            </a:r>
            <a:r>
              <a:rPr lang="en-US" sz="3199">
                <a:solidFill>
                  <a:srgbClr val="0070C0"/>
                </a:solidFill>
                <a:latin typeface="Aptos"/>
                <a:ea typeface="Aptos"/>
                <a:cs typeface="Aptos"/>
                <a:sym typeface="Aptos"/>
              </a:rPr>
              <a:t>de ma</a:t>
            </a:r>
            <a:r>
              <a:rPr lang="en-US" sz="3199">
                <a:solidFill>
                  <a:srgbClr val="0070C0"/>
                </a:solidFill>
                <a:latin typeface="Aptos"/>
                <a:ea typeface="Aptos"/>
                <a:cs typeface="Aptos"/>
                <a:sym typeface="Aptos"/>
              </a:rPr>
              <a:t>n</a:t>
            </a:r>
            <a:r>
              <a:rPr lang="en-US" sz="3199">
                <a:solidFill>
                  <a:srgbClr val="0070C0"/>
                </a:solidFill>
                <a:latin typeface="Aptos"/>
                <a:ea typeface="Aptos"/>
                <a:cs typeface="Aptos"/>
                <a:sym typeface="Aptos"/>
              </a:rPr>
              <a:t>ut</a:t>
            </a:r>
            <a:r>
              <a:rPr lang="en-US" sz="3199">
                <a:solidFill>
                  <a:srgbClr val="0070C0"/>
                </a:solidFill>
                <a:latin typeface="Aptos"/>
                <a:ea typeface="Aptos"/>
                <a:cs typeface="Aptos"/>
                <a:sym typeface="Aptos"/>
              </a:rPr>
              <a:t>en</a:t>
            </a:r>
            <a:r>
              <a:rPr lang="en-US" sz="3199">
                <a:solidFill>
                  <a:srgbClr val="0070C0"/>
                </a:solidFill>
                <a:latin typeface="Aptos"/>
                <a:ea typeface="Aptos"/>
                <a:cs typeface="Aptos"/>
                <a:sym typeface="Aptos"/>
              </a:rPr>
              <a:t>çã</a:t>
            </a:r>
            <a:r>
              <a:rPr lang="en-US" sz="3199">
                <a:solidFill>
                  <a:srgbClr val="0070C0"/>
                </a:solidFill>
                <a:latin typeface="Aptos"/>
                <a:ea typeface="Aptos"/>
                <a:cs typeface="Aptos"/>
                <a:sym typeface="Aptos"/>
              </a:rPr>
              <a:t>o </a:t>
            </a:r>
            <a:r>
              <a:rPr lang="en-US" sz="3199">
                <a:solidFill>
                  <a:srgbClr val="0070C0"/>
                </a:solidFill>
                <a:latin typeface="Aptos"/>
                <a:ea typeface="Aptos"/>
                <a:cs typeface="Aptos"/>
                <a:sym typeface="Aptos"/>
              </a:rPr>
              <a:t>e aumentar disponibilidade da frota.</a:t>
            </a:r>
          </a:p>
          <a:p>
            <a:pPr algn="just">
              <a:lnSpc>
                <a:spcPts val="3839"/>
              </a:lnSpc>
            </a:pPr>
            <a:r>
              <a:rPr lang="en-US" sz="3199">
                <a:solidFill>
                  <a:srgbClr val="0070C0"/>
                </a:solidFill>
                <a:latin typeface="Aptos"/>
                <a:ea typeface="Aptos"/>
                <a:cs typeface="Aptos"/>
                <a:sym typeface="Aptos"/>
              </a:rPr>
              <a:t>    </a:t>
            </a:r>
            <a:r>
              <a:rPr lang="en-US" sz="3199">
                <a:solidFill>
                  <a:srgbClr val="0070C0"/>
                </a:solidFill>
                <a:latin typeface="Aptos"/>
                <a:ea typeface="Aptos"/>
                <a:cs typeface="Aptos"/>
                <a:sym typeface="Aptos"/>
              </a:rPr>
              <a:t>A FAA aprovou as mudanças d</a:t>
            </a:r>
            <a:r>
              <a:rPr lang="en-US" sz="3199">
                <a:solidFill>
                  <a:srgbClr val="0070C0"/>
                </a:solidFill>
                <a:latin typeface="Aptos"/>
                <a:ea typeface="Aptos"/>
                <a:cs typeface="Aptos"/>
                <a:sym typeface="Aptos"/>
              </a:rPr>
              <a:t>e forma complacente, sem análise de risco em profundidade.</a:t>
            </a:r>
          </a:p>
          <a:p>
            <a:pPr algn="just">
              <a:lnSpc>
                <a:spcPts val="3839"/>
              </a:lnSpc>
            </a:pPr>
            <a:r>
              <a:rPr lang="en-US" sz="3199">
                <a:solidFill>
                  <a:srgbClr val="0070C0"/>
                </a:solidFill>
                <a:latin typeface="Aptos"/>
                <a:ea typeface="Aptos"/>
                <a:cs typeface="Aptos"/>
                <a:sym typeface="Aptos"/>
              </a:rPr>
              <a:t>     O resultado foi a operação de aeronaves com jackscrews críticos em condições inseguras por milhares de horas.</a:t>
            </a:r>
          </a:p>
          <a:p>
            <a:pPr algn="just">
              <a:lnSpc>
                <a:spcPts val="3839"/>
              </a:lnSpc>
            </a:pPr>
            <a:r>
              <a:rPr lang="en-US" sz="3199">
                <a:solidFill>
                  <a:srgbClr val="0070C0"/>
                </a:solidFill>
                <a:latin typeface="Aptos"/>
                <a:ea typeface="Aptos"/>
                <a:cs typeface="Aptos"/>
                <a:sym typeface="Aptos"/>
              </a:rPr>
              <a:t>Só após o acidente a FAA corrigiu a diretriz, evidenciando falha regulatória e de supervisão.</a:t>
            </a:r>
          </a:p>
          <a:p>
            <a:pPr algn="just">
              <a:lnSpc>
                <a:spcPts val="4559"/>
              </a:lnSpc>
            </a:pP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176697" y="155040"/>
            <a:ext cx="7202091" cy="1371600"/>
          </a:xfrm>
          <a:prstGeom prst="rect">
            <a:avLst/>
          </a:prstGeom>
        </p:spPr>
        <p:txBody>
          <a:bodyPr anchor="t" rtlCol="false" tIns="0" lIns="0" bIns="0" rIns="0">
            <a:spAutoFit/>
          </a:bodyPr>
          <a:lstStyle/>
          <a:p>
            <a:pPr algn="ctr">
              <a:lnSpc>
                <a:spcPts val="10559"/>
              </a:lnSpc>
              <a:spcBef>
                <a:spcPct val="0"/>
              </a:spcBef>
            </a:pPr>
            <a:r>
              <a:rPr lang="en-US" b="true" sz="8799">
                <a:solidFill>
                  <a:srgbClr val="004AAD"/>
                </a:solidFill>
                <a:latin typeface="Arial Bold"/>
                <a:ea typeface="Arial Bold"/>
                <a:cs typeface="Arial Bold"/>
                <a:sym typeface="Arial Bold"/>
              </a:rPr>
              <a:t>CONCLUSÃO</a:t>
            </a:r>
          </a:p>
        </p:txBody>
      </p:sp>
      <p:sp>
        <p:nvSpPr>
          <p:cNvPr name="TextBox 3" id="3"/>
          <p:cNvSpPr txBox="true"/>
          <p:nvPr/>
        </p:nvSpPr>
        <p:spPr>
          <a:xfrm rot="0">
            <a:off x="1028700" y="3244650"/>
            <a:ext cx="15358431" cy="4950224"/>
          </a:xfrm>
          <a:prstGeom prst="rect">
            <a:avLst/>
          </a:prstGeom>
        </p:spPr>
        <p:txBody>
          <a:bodyPr anchor="t" rtlCol="false" tIns="0" lIns="0" bIns="0" rIns="0">
            <a:spAutoFit/>
          </a:bodyPr>
          <a:lstStyle/>
          <a:p>
            <a:pPr algn="just">
              <a:lnSpc>
                <a:spcPts val="4877"/>
              </a:lnSpc>
              <a:spcBef>
                <a:spcPct val="0"/>
              </a:spcBef>
            </a:pPr>
            <a:r>
              <a:rPr lang="en-US" sz="3484">
                <a:solidFill>
                  <a:srgbClr val="004AAD"/>
                </a:solidFill>
                <a:latin typeface="Arial"/>
                <a:ea typeface="Arial"/>
                <a:cs typeface="Arial"/>
                <a:sym typeface="Arial"/>
              </a:rPr>
              <a:t>     </a:t>
            </a:r>
            <a:r>
              <a:rPr lang="en-US" sz="3484">
                <a:solidFill>
                  <a:srgbClr val="004AAD"/>
                </a:solidFill>
                <a:latin typeface="Arial"/>
                <a:ea typeface="Arial"/>
                <a:cs typeface="Arial"/>
                <a:sym typeface="Arial"/>
              </a:rPr>
              <a:t>Ao longo desta apresentação ficou evidente  que a falha do sistema de compensação do estabilizador horizontal do Alaska 261 não foi apenas um problema de desgaste mecânico, mas resultado de uma cadeia de erros de classificação, testes inadequados, falhas em análises MSI e SSI, limitações zonais ignoradas e intervalos de manutenção estendidos sem base técnica. </a:t>
            </a:r>
          </a:p>
          <a:p>
            <a:pPr algn="just">
              <a:lnSpc>
                <a:spcPts val="4877"/>
              </a:lnSpc>
              <a:spcBef>
                <a:spcPct val="0"/>
              </a:spcBef>
            </a:pPr>
            <a:r>
              <a:rPr lang="en-US" sz="3484">
                <a:solidFill>
                  <a:srgbClr val="004AAD"/>
                </a:solidFill>
                <a:latin typeface="Arial"/>
                <a:ea typeface="Arial"/>
                <a:cs typeface="Arial"/>
                <a:sym typeface="Arial"/>
              </a:rPr>
              <a:t>     A ausência de uma abordagem rigorosa no MSG-2 e MSG-3, aliada à complacência regulatória, eliminou as barreiras de defesa e permitiu que a falha previsível do jackscrew se transformasse em uma catástrofe.</a:t>
            </a: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772629" y="155040"/>
            <a:ext cx="8010227" cy="1371600"/>
          </a:xfrm>
          <a:prstGeom prst="rect">
            <a:avLst/>
          </a:prstGeom>
        </p:spPr>
        <p:txBody>
          <a:bodyPr anchor="t" rtlCol="false" tIns="0" lIns="0" bIns="0" rIns="0">
            <a:spAutoFit/>
          </a:bodyPr>
          <a:lstStyle/>
          <a:p>
            <a:pPr algn="ctr">
              <a:lnSpc>
                <a:spcPts val="10559"/>
              </a:lnSpc>
              <a:spcBef>
                <a:spcPct val="0"/>
              </a:spcBef>
            </a:pPr>
            <a:r>
              <a:rPr lang="en-US" b="true" sz="8799">
                <a:solidFill>
                  <a:srgbClr val="004AAD"/>
                </a:solidFill>
                <a:latin typeface="Arial Bold"/>
                <a:ea typeface="Arial Bold"/>
                <a:cs typeface="Arial Bold"/>
                <a:sym typeface="Arial Bold"/>
              </a:rPr>
              <a:t>REFERÊNCIAS</a:t>
            </a:r>
          </a:p>
        </p:txBody>
      </p:sp>
      <p:sp>
        <p:nvSpPr>
          <p:cNvPr name="TextBox 3" id="3"/>
          <p:cNvSpPr txBox="true"/>
          <p:nvPr/>
        </p:nvSpPr>
        <p:spPr>
          <a:xfrm rot="0">
            <a:off x="1028700" y="3244650"/>
            <a:ext cx="15899856" cy="1854599"/>
          </a:xfrm>
          <a:prstGeom prst="rect">
            <a:avLst/>
          </a:prstGeom>
        </p:spPr>
        <p:txBody>
          <a:bodyPr anchor="t" rtlCol="false" tIns="0" lIns="0" bIns="0" rIns="0">
            <a:spAutoFit/>
          </a:bodyPr>
          <a:lstStyle/>
          <a:p>
            <a:pPr algn="just" marL="752255" indent="-376127" lvl="1">
              <a:lnSpc>
                <a:spcPts val="4877"/>
              </a:lnSpc>
              <a:spcBef>
                <a:spcPct val="0"/>
              </a:spcBef>
              <a:buFont typeface="Arial"/>
              <a:buChar char="•"/>
            </a:pPr>
            <a:r>
              <a:rPr lang="en-US" sz="3484">
                <a:solidFill>
                  <a:srgbClr val="004AAD"/>
                </a:solidFill>
                <a:latin typeface="Arial"/>
                <a:ea typeface="Arial"/>
                <a:cs typeface="Arial"/>
                <a:sym typeface="Arial"/>
              </a:rPr>
              <a:t>R</a:t>
            </a:r>
            <a:r>
              <a:rPr lang="en-US" sz="3484">
                <a:solidFill>
                  <a:srgbClr val="004AAD"/>
                </a:solidFill>
                <a:latin typeface="Arial"/>
                <a:ea typeface="Arial"/>
                <a:cs typeface="Arial"/>
                <a:sym typeface="Arial"/>
              </a:rPr>
              <a:t>elatório do incidente disponibilizado pelo Pofessor Rodrigo Elias;</a:t>
            </a:r>
          </a:p>
          <a:p>
            <a:pPr algn="just" marL="752255" indent="-376127" lvl="1">
              <a:lnSpc>
                <a:spcPts val="4877"/>
              </a:lnSpc>
              <a:spcBef>
                <a:spcPct val="0"/>
              </a:spcBef>
              <a:buFont typeface="Arial"/>
              <a:buChar char="•"/>
            </a:pPr>
            <a:r>
              <a:rPr lang="en-US" sz="3484">
                <a:solidFill>
                  <a:srgbClr val="004AAD"/>
                </a:solidFill>
                <a:latin typeface="Arial"/>
                <a:ea typeface="Arial"/>
                <a:cs typeface="Arial"/>
                <a:sym typeface="Arial"/>
              </a:rPr>
              <a:t>https://www.faa.gov/lessons_learned/transport_airplane/accidents/N963AS</a:t>
            </a:r>
          </a:p>
          <a:p>
            <a:pPr algn="just">
              <a:lnSpc>
                <a:spcPts val="4877"/>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543252" y="3771900"/>
            <a:ext cx="7201495" cy="2705100"/>
          </a:xfrm>
          <a:prstGeom prst="rect">
            <a:avLst/>
          </a:prstGeom>
        </p:spPr>
        <p:txBody>
          <a:bodyPr anchor="t" rtlCol="false" tIns="0" lIns="0" bIns="0" rIns="0">
            <a:spAutoFit/>
          </a:bodyPr>
          <a:lstStyle/>
          <a:p>
            <a:pPr algn="ctr">
              <a:lnSpc>
                <a:spcPts val="10559"/>
              </a:lnSpc>
            </a:pPr>
            <a:r>
              <a:rPr lang="en-US" b="true" sz="8799">
                <a:solidFill>
                  <a:srgbClr val="004AAD"/>
                </a:solidFill>
                <a:latin typeface="Arial Bold"/>
                <a:ea typeface="Arial Bold"/>
                <a:cs typeface="Arial Bold"/>
                <a:sym typeface="Arial Bold"/>
              </a:rPr>
              <a:t>OBRIGADO !!</a:t>
            </a:r>
          </a:p>
          <a:p>
            <a:pPr algn="ctr">
              <a:lnSpc>
                <a:spcPts val="10559"/>
              </a:lnSpc>
              <a:spcBef>
                <a:spcPct val="0"/>
              </a:spcBef>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DAG0NvNpjmc</dc:identifier>
  <dcterms:modified xsi:type="dcterms:W3CDTF">2011-08-01T06:04:30Z</dcterms:modified>
  <cp:revision>1</cp:revision>
  <dc:title>Sprint 02 .pptx</dc:title>
</cp:coreProperties>
</file>