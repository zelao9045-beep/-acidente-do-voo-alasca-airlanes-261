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" charset="1" panose="020B0604020202020204"/>
      <p:regular r:id="rId23"/>
    </p:embeddedFont>
    <p:embeddedFont>
      <p:font typeface="Arial Bold" charset="1" panose="020B0704020202020204"/>
      <p:regular r:id="rId24"/>
    </p:embeddedFont>
    <p:embeddedFont>
      <p:font typeface="Aptos" charset="1" panose="020B0004020202020204"/>
      <p:regular r:id="rId25"/>
    </p:embeddedFont>
    <p:embeddedFont>
      <p:font typeface="Arial Bold Italics" charset="1" panose="020B07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6408" y="301831"/>
            <a:ext cx="10175184" cy="178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7"/>
              </a:lnSpc>
              <a:spcBef>
                <a:spcPct val="0"/>
              </a:spcBef>
            </a:pP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Análise do </a:t>
            </a: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o Alaska Airlines 261</a:t>
            </a:r>
          </a:p>
          <a:p>
            <a:pPr algn="ctr">
              <a:lnSpc>
                <a:spcPts val="7117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18447" y="1864277"/>
            <a:ext cx="8127108" cy="5270989"/>
          </a:xfrm>
          <a:custGeom>
            <a:avLst/>
            <a:gdLst/>
            <a:ahLst/>
            <a:cxnLst/>
            <a:rect r="r" b="b" t="t" l="l"/>
            <a:pathLst>
              <a:path h="5270989" w="8127108">
                <a:moveTo>
                  <a:pt x="0" y="0"/>
                </a:moveTo>
                <a:lnTo>
                  <a:pt x="8127108" y="0"/>
                </a:lnTo>
                <a:lnTo>
                  <a:pt x="8127108" y="5270989"/>
                </a:lnTo>
                <a:lnTo>
                  <a:pt x="0" y="527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95" b="-467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97433" y="3553621"/>
            <a:ext cx="7061867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API 5ºSEMESTRE - Prof. Rodrigo Elias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257" y="1537440"/>
            <a:ext cx="14571605" cy="6721153"/>
          </a:xfrm>
          <a:custGeom>
            <a:avLst/>
            <a:gdLst/>
            <a:ahLst/>
            <a:cxnLst/>
            <a:rect r="r" b="b" t="t" l="l"/>
            <a:pathLst>
              <a:path h="6721153" w="14571605">
                <a:moveTo>
                  <a:pt x="0" y="0"/>
                </a:moveTo>
                <a:lnTo>
                  <a:pt x="14571605" y="0"/>
                </a:lnTo>
                <a:lnTo>
                  <a:pt x="14571605" y="6721153"/>
                </a:lnTo>
                <a:lnTo>
                  <a:pt x="0" y="6721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6408" y="301831"/>
            <a:ext cx="10175184" cy="178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7"/>
              </a:lnSpc>
              <a:spcBef>
                <a:spcPct val="0"/>
              </a:spcBef>
            </a:pP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Análise do </a:t>
            </a: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r>
              <a:rPr lang="en-US" sz="50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o Alaska Airlines 261</a:t>
            </a:r>
          </a:p>
          <a:p>
            <a:pPr algn="ctr">
              <a:lnSpc>
                <a:spcPts val="711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14172" y="7359209"/>
            <a:ext cx="17612808" cy="5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161618"/>
                </a:solidFill>
                <a:latin typeface="Arial"/>
                <a:ea typeface="Arial"/>
                <a:cs typeface="Arial"/>
                <a:sym typeface="Arial"/>
              </a:rPr>
              <a:t>BRENO NEVES          CRISTIANO TEIXEIRA          JOSÉ AUGUSTO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2695" y="47649"/>
            <a:ext cx="6024860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93227" y="1404230"/>
            <a:ext cx="9301546" cy="693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  <a:spcBef>
                <a:spcPct val="0"/>
              </a:spcBef>
            </a:pPr>
          </a:p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  <a:p>
            <a:pPr algn="just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Nesta apresentação, com um entendimento melhorado da proposta do projeto integrador do 5º semestre, explanaremos nossas análises, sobre o acidente do Alaska Airlines 261 abordando os aspectos logísticos, financeiros e de monitoramento da frota. </a:t>
            </a:r>
          </a:p>
          <a:p>
            <a:pPr algn="just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Avaliaremos o planejamento de peças de reposição, os custos associados às tarefas de manutenção e a atuação da companhia e da autoridade reguladora na definição de intervalos. </a:t>
            </a:r>
          </a:p>
          <a:p>
            <a:pPr algn="just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Analisaremos se haviam estoques, reservas financeiras suficientes e a extensão indevida dos programas de manutenção.</a:t>
            </a:r>
          </a:p>
          <a:p>
            <a:pPr algn="l">
              <a:lnSpc>
                <a:spcPts val="365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9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Slide 9.1 - Estoque recomendado para a Alaska Airlines que possuía 48 aeronaves na época.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Breno Neves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4440" y="8598"/>
            <a:ext cx="1313442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Peças de R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eposição: A Alaska não possuía conjuntos de eixos estocados. Com base nos dados de falhas reportadas indicadas no relatório da NTSB, e no limite de vida de 30.000 horas do conjunto do eixo, estime e desenvolva os seguintes dados: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611" y="2350531"/>
            <a:ext cx="16811629" cy="57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3740" indent="-311870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Cada aeronave MD-83 possuía um conjunto do eixo com vida limite de 30.000 horas;</a:t>
            </a:r>
          </a:p>
          <a:p>
            <a:pPr algn="just" marL="623740" indent="-311870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Considerando uma utilização média de 2.500 horas de voo por ano, cada</a:t>
            </a: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ae</a:t>
            </a: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ronave exigiria a s</a:t>
            </a: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ubstituição de um jackscrew a cada 12 anos, em condições ideais;</a:t>
            </a:r>
          </a:p>
          <a:p>
            <a:pPr algn="just" marL="623740" indent="-311870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Para a frota de 48 aeronaves, a necessidade de reposição seria de ~4 conjuntos/ano.</a:t>
            </a:r>
          </a:p>
          <a:p>
            <a:pPr algn="just" marL="623740" indent="-311870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Adotando lead time de 6 meses para fabricação/entrega, a Alaska deveria manter pelo menos 2 unidades em pipeline mais 2 a 4 em estoque de segurança;</a:t>
            </a:r>
          </a:p>
          <a:p>
            <a:pPr algn="just" marL="623740" indent="-311870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Recomendação prática: manter 6 a 8 conjuntos disponíveis, evitando aeronaves em AOG (Aircraft on Ground) por falta de peça;</a:t>
            </a:r>
          </a:p>
          <a:p>
            <a:pPr algn="just">
              <a:lnSpc>
                <a:spcPts val="4044"/>
              </a:lnSpc>
            </a:pPr>
            <a:r>
              <a:rPr lang="en-US" sz="2889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No caso do acidente, a ausência de estoque não teve impacto, pois a companhia tinha conhecimento do desgaste da peça.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9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Slide 9.2 - Estoque da Boeing para suprir a necessidade da frota  de 1.194 aeronaves.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Breno Neves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4440" y="8598"/>
            <a:ext cx="1313442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Peças de R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eposição: A Alaska não possuía conjuntos de eixos estocados. Com base nos dados de falhas reportadas indicadas no relatório da NTSB, e no limite de vida de 30.000 horas do conjunto do eixo, estime e desenvolva os seguintes dados: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05193"/>
            <a:ext cx="16784083" cy="369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frota mundial de MD-80/83 era de 1.194 aeronaves.</a:t>
            </a:r>
          </a:p>
          <a:p>
            <a:pPr algn="l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Demanda anual: 1.194 × (2.500/30.000) ≈ 100 conjuntos por ano.</a:t>
            </a:r>
          </a:p>
          <a:p>
            <a:pPr algn="l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Pip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eli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ne glo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bal (0,5 ano): ~50 unidades em trânsito/fabricação.</a:t>
            </a:r>
          </a:p>
          <a:p>
            <a:pPr algn="l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Estoque de segurança global: 10 a 20 unidades, dependendo da dispersão geográfica.</a:t>
            </a:r>
          </a:p>
          <a:p>
            <a:pPr algn="l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Recomendação: Sem alteração, pois a causa não foi o desgaste normal do componente, e sim um desgaste excessivo e sem controle por parte da manutenção executada.</a:t>
            </a:r>
          </a:p>
          <a:p>
            <a:pPr algn="ctr">
              <a:lnSpc>
                <a:spcPts val="543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9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9.3 Com base no preço de lista de um conjunto do eixo de $ 80.000,00 ,estime um preço DPDH para o conjunto do eixo.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Breno Neves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4440" y="8598"/>
            <a:ext cx="1313442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Peças de R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eposição: A Alaska não possuía conjuntos de eixos estocados. Com base nos dados de falhas reportadas indicadas no relatório da NTSB, e no limite de vida de 30.000 horas do conjunto do eixo, estime e desenvolva os seguintes dados: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350" y="2533886"/>
            <a:ext cx="17259300" cy="470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O Power By The Hour é um modelo de contrato de manutenção aeronáutica em que o operador paga um valor fixo por hora de voo para cobrir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cu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stos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anutenção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com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ponentes como motores e APU.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O objetivo é diluir os custos de manutenção ao longo do tempo, garantindo previsibilidade fi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nce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ra e 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ndo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spesas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peradas.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​Vantagens: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custos previsíveis, suporte garantido e menor risco financeiro.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Desvantagens: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custo fixo mesmo com pouco uso e menor flexibilidade contratual.</a:t>
            </a:r>
          </a:p>
          <a:p>
            <a:pPr algn="just">
              <a:lnSpc>
                <a:spcPts val="4038"/>
              </a:lnSpc>
            </a:pP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Com base no preço do conjunto de eixo US$ 80.000 US$ 80.000/30.000 = US$ 2,67 Por hora de voo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9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9.4 Aprovisionamento (Inicial x Recorrente) e alternativas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Breno Neves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4440" y="8598"/>
            <a:ext cx="1313442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Peças de R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eposição: A Alaska não possuía conjuntos de eixos estocados. Com base nos dados de falhas reportadas indicadas no relatório da NTSB, e no limite de vida de 30.000 horas do conjunto do eixo, estime e desenvolva os seguintes dados: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2002" y="2521117"/>
            <a:ext cx="17259300" cy="672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Inicial: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dimensiona estoque para entrada da frota em serviço,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cobrindo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falhas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infantis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curva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ap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zad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Rec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orrente: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ajusta reposição conforme desgaste real e dados de confiabilidade.</a:t>
            </a:r>
          </a:p>
          <a:p>
            <a:pPr algn="just">
              <a:lnSpc>
                <a:spcPts val="4038"/>
              </a:lnSpc>
            </a:pP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b="true" sz="2884" i="true">
                <a:solidFill>
                  <a:srgbClr val="004AA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Alternativas de gestão: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Compra direta (alto custo de cap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ital, controle interno).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Pool entre companhias (divisão de estoque entre operadores).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PBH com OEM ou MRO (estabilidade de custo, risco transferido).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Leasing/exchange (substituição rápida em casos não programados).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Para o jackscrew, PBH ou pool regional seriam mais adequados, garantindo disponibilidade e menor risco de AOG.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10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10.1 Cu</a:t>
            </a: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stos de manutenção – Check 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42651" y="45720"/>
            <a:ext cx="326268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Cristiano Teixeira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5531" y="36195"/>
            <a:ext cx="131344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Custos</a:t>
            </a: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 de manutenção: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Discorra sobre os custos associados as tarefas de manutenção do Sistema de compensação do Estabilizador Horizontal.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93" y="2409647"/>
            <a:ext cx="17514088" cy="722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O Check C envolve inspeções profundas e tarefas críticas, incluindo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lubrificação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ição 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folga axial 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o ja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ckscrew.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b="true" sz="2884" i="true">
                <a:solidFill>
                  <a:srgbClr val="004AA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Custo típico de um C-check no MD-80: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Mão de obra: ~2.500 HH, custo médio de US$ 70/HH → US$ 175.000.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ter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s/consumí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ei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US$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15.000–20.000.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Subcontratações e NDT: US$ 10.000–20.000.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Custo to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tal por evento: US$ 200.000–250.000.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Ao estender intervalos, a Alaska reduzia temporariamente custos, mas aumentava o risco de desgaste crítico não identificado.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No caso do acidente, o custo poupado em Checks C foi insignificante comparado à perda total da aeronave e às vidas humanas.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10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10.2 Re</a:t>
            </a: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serva de Manutenção para o conjunto do eixo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54602" y="45720"/>
            <a:ext cx="353339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Cristiano Teixeira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95531" y="36195"/>
            <a:ext cx="131344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Custos</a:t>
            </a: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 de manutenção:</a:t>
            </a: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Discorra sobre os custos associados as tarefas de manutenção do Sistema de compensação do Estabilizador Horizontal.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93" y="2409647"/>
            <a:ext cx="17514088" cy="571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Valor unitário: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US$ 80.000.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Vid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 útil: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30.000 h.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erva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í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n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im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a: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80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.000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÷ 30.000 = US$ 2,67/FH.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Adicionar custos de mão de ob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ra, 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consumí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v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ei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 </a:t>
            </a:r>
            <a:r>
              <a:rPr lang="en-US" b="true" sz="2884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e gestão: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US$ 3,2/FH.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Em um DMC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(Direct Maintenance Cost) do MD-80 (~US$ 990/FH), esse valor parece pequeno, mas sua falha tem impacto catastrófico, o que justifica manutenções adequadas, um estoque grande seria inútil quando a manutenção não é perfeitamente executada.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 ausência dessa provisão estimulou a companhia a postergar trocas e estender intervalos, estratégia de risco elevado.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11.1  Dados de confiabilidade do sistema de compensação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0102" y="41741"/>
            <a:ext cx="300789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Cristiano Teixeira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27380" y="332254"/>
            <a:ext cx="131344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DA FROTA EM SERVIÇO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0661" y="2393723"/>
            <a:ext cx="14026678" cy="571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O indicador mais importante de confiabilidade era a folga axial (end play), pois ela refletia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iretamente 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desg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aste da rosca da porca acme.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O método correto se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ria 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egistrar cada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medição de end play, construir uma curva de tendência e correlacionar com as horas de voo desde a última lubrificação.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 Alaska Airlines não mantinha esse histórico; as inspeções eram liberadas apenas com “check ok” ou “sem anomalia”.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Sem série histórica, não havia como identificar que os valores de folga estavam se aproximando do limite crítico.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Essa ausência de monitoramento transformou um sistema que poderia ser previsível e controlável em um risco oculto.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11.2 Taxas de falha dos componentes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6491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Cristiano Teixeira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27380" y="332254"/>
            <a:ext cx="131344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DA FROTA EM SERVIÇO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0661" y="2029061"/>
            <a:ext cx="14026678" cy="722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O jackscrew segue um modo de falha por desgaste progressivo, que estatisticamente se enquadra em uma curva Weibull com β &gt; 1, ou seja, risco crescente com o tempo de uso.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Isso significa que quanto maior 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int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ervalo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 operação sem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manutenção, maior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prob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abilidade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 falha.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Outras companhias que mantiveram os intervalos curtos (600–900h) não registraram falhas graves no sistema.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Já a Alaska, ao estender para 3.600h, multiplicou o risco por um fator de 4 a 6, sem considerar ainda a perda de eficácia da tarefa (graxa não atingindo roscas internas).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Como resultado a taxa de falha do conjunto deixou de ser “remota” e passou a ser provável dentro do ciclo de operação.</a:t>
            </a:r>
          </a:p>
          <a:p>
            <a:pPr algn="just">
              <a:lnSpc>
                <a:spcPts val="4038"/>
              </a:lnSpc>
            </a:pP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11.3 Extensão de Intervalos de Manutenção Periódic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José Augusto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7380" y="332254"/>
            <a:ext cx="131344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DA FROTA EM SERVIÇO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0661" y="2029061"/>
            <a:ext cx="14026678" cy="621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 filosofia MSG-3 permite extensão de intervalos se houver dados de confiabilidade sólidos.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    A Alaska não apresentou tais dados; baseou-se apenas em histórico “baixo” de falhas relatadas.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Isso foi um erro metodológico,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porque o desgaste do j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ackscrew não er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f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acilmente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detectável em testes operacionais, logo os “dados limpos” eram na verdade subnotificação.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 Estender de 900h para 3.600h significou quadruplicar a exposição ao risco, e com menor eficácia da tarefa.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  Na prática, a extensão dos intervalos foi o fator decisivo que levou ao colapso do sistema.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11.4 Atuação da Alaska Airlines na Extensão dos Intervalos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José Augusto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11456" y="332254"/>
            <a:ext cx="131344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DA FROTA EM SERVIÇO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0661" y="2029061"/>
            <a:ext cx="14026678" cy="571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 motivação da Alaska foi puramente financeira, menos lubrificações, menos Checks C, menos aeronaves paradas.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   Essa política foi implementada sem: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Dados trended de end play para comprovar segurança.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Verificação objetiva se a graxa atingia as roscas.</a:t>
            </a:r>
          </a:p>
          <a:p>
            <a:pPr algn="just" marL="622718" indent="-311359" lvl="1">
              <a:lnSpc>
                <a:spcPts val="4038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Treinamento adequado dos mecânicos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para entender a criticidade da t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arefa.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cultur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interna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de “corte de custos primeiro” fez com que a companhia ignorasse sinais de degradação.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O relatório da NTSB apontou que essa política foi um dos fatores organizacionais centrais do acidente.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417" y="1192059"/>
            <a:ext cx="119610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11.5 Atuação da FAA na Aprovação das Extensões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38864" y="45720"/>
            <a:ext cx="246647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José Augusto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11456" y="332254"/>
            <a:ext cx="131344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DA FROTA EM SERVIÇO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0661" y="2252780"/>
            <a:ext cx="14026678" cy="571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A FAA deveria ter atuado como barreira final, mas aprovou extensões sem exigir base de confiabilidade robusta.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A análise feita foi superficial: baseou-se em histórico de falhas “baixo”, sem considerar que os modos de falha eram subdetectados.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A autoridade ignorou o fato de que a acessibilidade ao jackscrew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era limitada, reduzindo a eficácia da lub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rificação.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Somente após o acidente foram</a:t>
            </a: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emitidas Airworthiness Directives, reduzindo o intervalo para cerca de 650h e exigindo evidência objetiva de execução eficaz.</a:t>
            </a:r>
          </a:p>
          <a:p>
            <a:pPr algn="just">
              <a:lnSpc>
                <a:spcPts val="4038"/>
              </a:lnSpc>
            </a:pPr>
            <a:r>
              <a:rPr lang="en-US" sz="28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     Em resumo, a FAA atuou de forma reativa, não preventiva, sendo corresponsável pelo ambiente que permitiu a falha .</a:t>
            </a:r>
          </a:p>
          <a:p>
            <a:pPr algn="just">
              <a:lnSpc>
                <a:spcPts val="54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417" y="188020"/>
            <a:ext cx="2106584" cy="621841"/>
            <a:chOff x="0" y="0"/>
            <a:chExt cx="2808778" cy="829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8778" cy="829121"/>
            </a:xfrm>
            <a:custGeom>
              <a:avLst/>
              <a:gdLst/>
              <a:ahLst/>
              <a:cxnLst/>
              <a:rect r="r" b="b" t="t" l="l"/>
              <a:pathLst>
                <a:path h="829121" w="2808778">
                  <a:moveTo>
                    <a:pt x="0" y="0"/>
                  </a:moveTo>
                  <a:lnTo>
                    <a:pt x="2808778" y="0"/>
                  </a:lnTo>
                  <a:lnTo>
                    <a:pt x="2808778" y="829121"/>
                  </a:lnTo>
                  <a:lnTo>
                    <a:pt x="0" y="829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8778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Capítulo 12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638864" y="45720"/>
            <a:ext cx="246647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Resp.: </a:t>
            </a:r>
          </a:p>
          <a:p>
            <a:pPr algn="ctr">
              <a:lnSpc>
                <a:spcPts val="3240"/>
              </a:lnSpc>
            </a:pPr>
            <a:r>
              <a:rPr lang="en-US" sz="2700" u="sng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José Augusto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76788" y="275104"/>
            <a:ext cx="1313442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b="true" sz="2699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CONCLUSÃO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866900"/>
            <a:ext cx="17922675" cy="55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</a:p>
          <a:p>
            <a:pPr algn="just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      </a:t>
            </a:r>
            <a:r>
              <a:rPr lang="en-US" sz="2600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O estudo do acidente do Alaska Airlines 261 evidencia que a tragédia não resultou de um único erro, mas de uma cadeia de falhas técnicas, organizacionais, logísticas e regulatórias. O sistema de compensação do estabilizador horizontal foi concebido sem redundância contra falhas críticas, e sua manutenção era realizada de forma ineficaz, com intervalos estendidos sem base de confiabilidade e sem evidência objetiva de </a:t>
            </a:r>
            <a:r>
              <a:rPr lang="en-US" sz="2600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execução adequada. </a:t>
            </a:r>
          </a:p>
          <a:p>
            <a:pPr algn="just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      A ausência de registros consistentes, de treinamento específico para os mecânicos e de planejamento logístico de peças de reposição agravou ainda mais a vulnerabilidade do sistema. Paralelamente, a cultura organizacional da companhia priorizava a redução de custos em detrimento da segurança, enquanto a autoridade reguladora se mostrou complacente ao aprovar práticas inseguras sem uma análise de risco robusta. </a:t>
            </a:r>
          </a:p>
          <a:p>
            <a:pPr algn="just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70C0"/>
                </a:solidFill>
                <a:latin typeface="Aptos"/>
                <a:ea typeface="Aptos"/>
                <a:cs typeface="Aptos"/>
                <a:sym typeface="Aptos"/>
              </a:rPr>
              <a:t>       Dessa forma, o acidente do Alaska 261 representa um exemplo clássico de falha sistêmica, onde múltiplas barreiras de defesa falharam simultaneamente. A principal lição é que a segurança aeronáutica só pode ser garantida por meio de uma abordagem integrada que una projeto robusto, manutenção baseada em dados e evidências, logística eficiente, cultura organizacional voltada à prevenção e uma supervisão regulatória rigorosa e independente.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72629" y="155040"/>
            <a:ext cx="8010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  <a:spcBef>
                <a:spcPct val="0"/>
              </a:spcBef>
            </a:pPr>
            <a:r>
              <a:rPr lang="en-US" b="true" sz="8799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44650"/>
            <a:ext cx="15899856" cy="185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2255" indent="-376127" lvl="1">
              <a:lnSpc>
                <a:spcPts val="4877"/>
              </a:lnSpc>
              <a:spcBef>
                <a:spcPct val="0"/>
              </a:spcBef>
              <a:buFont typeface="Arial"/>
              <a:buChar char="•"/>
            </a:pPr>
            <a:r>
              <a:rPr lang="en-US" sz="34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elatório do incidente disponibilizado pelo Pofessor Rodrigo Elias;</a:t>
            </a:r>
          </a:p>
          <a:p>
            <a:pPr algn="just" marL="752255" indent="-376127" lvl="1">
              <a:lnSpc>
                <a:spcPts val="4877"/>
              </a:lnSpc>
              <a:spcBef>
                <a:spcPct val="0"/>
              </a:spcBef>
              <a:buFont typeface="Arial"/>
              <a:buChar char="•"/>
            </a:pPr>
            <a:r>
              <a:rPr lang="en-US" sz="3484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https://www.faa.gov/lessons_learned/transport_airplane/accidents/N963AS</a:t>
            </a:r>
          </a:p>
          <a:p>
            <a:pPr algn="just">
              <a:lnSpc>
                <a:spcPts val="487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43252" y="3771900"/>
            <a:ext cx="7201495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OBRIGADO !!</a:t>
            </a:r>
          </a:p>
          <a:p>
            <a:pPr algn="ctr">
              <a:lnSpc>
                <a:spcPts val="105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DAG0OdPCpQ0</dc:identifier>
  <dcterms:modified xsi:type="dcterms:W3CDTF">2011-08-01T06:04:30Z</dcterms:modified>
  <cp:revision>1</cp:revision>
  <dc:title>Sprint 03 .pptx</dc:title>
</cp:coreProperties>
</file>